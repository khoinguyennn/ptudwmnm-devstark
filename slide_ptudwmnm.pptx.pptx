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Arimo Bold" charset="1" panose="020B0704020202020204"/>
      <p:regular r:id="rId40"/>
    </p:embeddedFont>
    <p:embeddedFont>
      <p:font typeface="Inter Bold Italics" charset="1" panose="02000503000000020004"/>
      <p:regular r:id="rId41"/>
    </p:embeddedFont>
    <p:embeddedFont>
      <p:font typeface="Inter" charset="1" panose="02000503000000020004"/>
      <p:regular r:id="rId42"/>
    </p:embeddedFont>
    <p:embeddedFont>
      <p:font typeface="Inter Bold" charset="1" panose="02000503000000020004"/>
      <p:regular r:id="rId43"/>
    </p:embeddedFont>
    <p:embeddedFont>
      <p:font typeface="Arimo Italics" charset="1" panose="020B0604020202090204"/>
      <p:regular r:id="rId44"/>
    </p:embeddedFont>
    <p:embeddedFont>
      <p:font typeface="Open Sans Bold" charset="1" panose="00000000000000000000"/>
      <p:regular r:id="rId45"/>
    </p:embeddedFont>
    <p:embeddedFont>
      <p:font typeface="Inter Italics" charset="1" panose="02000503000000020004"/>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notesMasters/notesMaster1.xml" Type="http://schemas.openxmlformats.org/officeDocument/2006/relationships/notesMaster"/><Relationship Id="rId47" Target="theme/theme2.xml" Type="http://schemas.openxmlformats.org/officeDocument/2006/relationships/theme"/><Relationship Id="rId48" Target="notesSlides/notesSlide1.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50" Target="notesSlides/notesSlide2.xml" Type="http://schemas.openxmlformats.org/officeDocument/2006/relationships/notesSlide"/><Relationship Id="rId51" Target="notesSlides/notesSlide3.xml" Type="http://schemas.openxmlformats.org/officeDocument/2006/relationships/notesSlide"/><Relationship Id="rId52" Target="notesSlides/notesSlide4.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“Trong bối cảnh cuộc cách mạng công nghiệp 4.0, nhu cầu về nhân lực công nghệ thông tin, đặc biệt là lập trình web, ngày càng tăng mạnh. Vì vậy, việc học và nâng cao kỹ năng lập trình trở thành một nhu cầu rất thiết thực.</a:t>
            </a:r>
          </a:p>
          <a:p>
            <a:r>
              <a:rPr lang="en-US"/>
              <a:t/>
            </a:r>
          </a:p>
          <a:p>
            <a:r>
              <a:rPr lang="en-US"/>
              <a:t>Bên cạnh đó, học trực tuyến (E-learning) đang là xu hướng phổ biến nhờ tính linh hoạt, tiết kiệm thời gian – chi phí và giúp người học tiếp cận tri thức rộng rãi ở mọi nơi.</a:t>
            </a:r>
          </a:p>
          <a:p>
            <a:r>
              <a:rPr lang="en-US"/>
              <a:t/>
            </a:r>
          </a:p>
          <a:p>
            <a:r>
              <a:rPr lang="en-US"/>
              <a:t>Tuy nhiên, thực tế cho thấy nhiều hệ thống E-learning hiện nay vẫn còn hạn chế ở các điểm như quản lý khóa học, theo dõi tiến độ học tập và tích hợp thanh toán trực tuyến chưa đồng bộ.</a:t>
            </a:r>
          </a:p>
          <a:p>
            <a:r>
              <a:rPr lang="en-US"/>
              <a:t/>
            </a:r>
          </a:p>
          <a:p>
            <a:r>
              <a:rPr lang="en-US"/>
              <a:t>Xuất phát từ những nhu cầu đó, nhóm lựa chọn đề tài Xây dựng website bán khóa học lập trình web bằng Laravel. Việc sử dụng Laravel framework giúp hệ thống đảm bảo bảo mật, dễ mở rộng và phù hợp với các kiến trúc phát triển phần mềm hiện đại.”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“Ở phần cơ sở lý thuyết, em xin giới thiệu về PHP.</a:t>
            </a:r>
          </a:p>
          <a:p>
            <a:r>
              <a:rPr lang="en-US"/>
              <a:t>PHP là ngôn ngữ lập trình phía máy chủ, thường được dùng để xây dựng các website và ứng dụng web động.</a:t>
            </a:r>
          </a:p>
          <a:p>
            <a:r>
              <a:rPr lang="en-US"/>
              <a:t/>
            </a:r>
          </a:p>
          <a:p>
            <a:r>
              <a:rPr lang="en-US"/>
              <a:t>Các đoạn mã PHP sẽ được xử lý trực tiếp trên server, sau đó sinh ra mã HTML và gửi về cho trình duyệt của người dùng.</a:t>
            </a:r>
          </a:p>
          <a:p>
            <a:r>
              <a:rPr lang="en-US"/>
              <a:t/>
            </a:r>
          </a:p>
          <a:p>
            <a:r>
              <a:rPr lang="en-US"/>
              <a:t>Ngoài ra, PHP thường được kết hợp với cơ sở dữ liệu để tạo ra các hệ thống web có tính tương tác cao, ví dụ như đăng nhập, quản lý người dùng hay khóa học.</a:t>
            </a:r>
          </a:p>
          <a:p>
            <a:r>
              <a:rPr lang="en-US"/>
              <a:t/>
            </a:r>
          </a:p>
          <a:p>
            <a:r>
              <a:rPr lang="en-US"/>
              <a:t>Chính vì những ưu điểm đó, PHP là nền tảng phù hợp để phát triển website bán khóa học trong đề tài của nhóm.”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“Tiếp theo là Laravel framework.</a:t>
            </a:r>
          </a:p>
          <a:p>
            <a:r>
              <a:rPr lang="en-US"/>
              <a:t>Laravel là một PHP framework mã nguồn mở và miễn phí, được phát triển bởi Taylor Otwell.</a:t>
            </a:r>
          </a:p>
          <a:p>
            <a:r>
              <a:rPr lang="en-US"/>
              <a:t/>
            </a:r>
          </a:p>
          <a:p>
            <a:r>
              <a:rPr lang="en-US"/>
              <a:t>Framework này hỗ trợ xây dựng ứng dụng web theo kiến trúc MVC – Model, View, Controller, giúp code rõ ràng và dễ quản lý hơn.</a:t>
            </a:r>
          </a:p>
          <a:p>
            <a:r>
              <a:rPr lang="en-US"/>
              <a:t/>
            </a:r>
          </a:p>
          <a:p>
            <a:r>
              <a:rPr lang="en-US"/>
              <a:t>Laravel có cú pháp đơn giản, dễ đọc, từ đó giúp tăng hiệu suất phát triển và giảm thời gian xây dựng hệ thống.</a:t>
            </a:r>
          </a:p>
          <a:p>
            <a:r>
              <a:rPr lang="en-US"/>
              <a:t/>
            </a:r>
          </a:p>
          <a:p>
            <a:r>
              <a:rPr lang="en-US"/>
              <a:t>Ngoài ra, Laravel còn hỗ trợ làm việc với cơ sở dữ liệu rất linh hoạt, kèm theo nhiều tiện ích giúp việc triển khai và bảo trì ứng dụng trở nên thuận tiện hơn.</a:t>
            </a:r>
          </a:p>
          <a:p>
            <a:r>
              <a:rPr lang="en-US"/>
              <a:t/>
            </a:r>
          </a:p>
          <a:p>
            <a:r>
              <a:rPr lang="en-US"/>
              <a:t>Vì những lý do đó, nhóm lựa chọn Laravel làm nền tảng chính cho website bán khóa học của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“Tiếp theo là hệ quản trị cơ sở dữ liệu MySQL.</a:t>
            </a:r>
          </a:p>
          <a:p>
            <a:r>
              <a:rPr lang="en-US"/>
              <a:t>MySQL là một hệ quản trị cơ sở dữ liệu mã nguồn mở, rất phổ biến và được sử dụng rộng rãi trong phát triển ứng dụng web.</a:t>
            </a:r>
          </a:p>
          <a:p>
            <a:r>
              <a:rPr lang="en-US"/>
              <a:t/>
            </a:r>
          </a:p>
          <a:p>
            <a:r>
              <a:rPr lang="en-US"/>
              <a:t>MySQL có tốc độ xử lý cao, hoạt động ổn định, dễ sử dụng và phù hợp với nhiều mô hình ứng dụng khác nhau.</a:t>
            </a:r>
          </a:p>
          <a:p>
            <a:r>
              <a:rPr lang="en-US"/>
              <a:t/>
            </a:r>
          </a:p>
          <a:p>
            <a:r>
              <a:rPr lang="en-US"/>
              <a:t>Ngoài ra, MySQL có thể chạy trên nhiều hệ điều hành như Windows, Linux hay macOS và được phát hành miễn phí.</a:t>
            </a:r>
          </a:p>
          <a:p>
            <a:r>
              <a:rPr lang="en-US"/>
              <a:t/>
            </a:r>
          </a:p>
          <a:p>
            <a:r>
              <a:rPr lang="en-US"/>
              <a:t>Nhờ những ưu điểm đó, MySQL được nhóm lựa chọn để lưu trữ và quản lý dữ liệu cho website bán khóa học trong đề tài.”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3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26820" y="4095167"/>
            <a:ext cx="9090660" cy="2047850"/>
          </a:xfrm>
          <a:prstGeom prst="rect">
            <a:avLst/>
          </a:prstGeom>
        </p:spPr>
        <p:txBody>
          <a:bodyPr anchor="t" rtlCol="false" tIns="0" lIns="0" bIns="0" rIns="0">
            <a:spAutoFit/>
          </a:bodyPr>
          <a:lstStyle/>
          <a:p>
            <a:pPr algn="l">
              <a:lnSpc>
                <a:spcPts val="5398"/>
              </a:lnSpc>
            </a:pPr>
            <a:r>
              <a:rPr lang="en-US" b="true" sz="4498" spc="123">
                <a:solidFill>
                  <a:srgbClr val="276399"/>
                </a:solidFill>
                <a:latin typeface="Arimo Bold"/>
                <a:ea typeface="Arimo Bold"/>
                <a:cs typeface="Arimo Bold"/>
                <a:sym typeface="Arimo Bold"/>
              </a:rPr>
              <a:t>XÂY DỰNG WEBSITE BÁN KHÓA HỌC LẬP TRÌNH WEB BẰNG LARAVEL</a:t>
            </a:r>
          </a:p>
        </p:txBody>
      </p:sp>
      <p:sp>
        <p:nvSpPr>
          <p:cNvPr name="Freeform 3" id="3"/>
          <p:cNvSpPr/>
          <p:nvPr/>
        </p:nvSpPr>
        <p:spPr>
          <a:xfrm flipH="false" flipV="false" rot="0">
            <a:off x="996258" y="801519"/>
            <a:ext cx="6314494" cy="1071410"/>
          </a:xfrm>
          <a:custGeom>
            <a:avLst/>
            <a:gdLst/>
            <a:ahLst/>
            <a:cxnLst/>
            <a:rect r="r" b="b" t="t" l="l"/>
            <a:pathLst>
              <a:path h="1071410" w="6314494">
                <a:moveTo>
                  <a:pt x="0" y="0"/>
                </a:moveTo>
                <a:lnTo>
                  <a:pt x="6314494" y="0"/>
                </a:lnTo>
                <a:lnTo>
                  <a:pt x="6314494" y="1071410"/>
                </a:lnTo>
                <a:lnTo>
                  <a:pt x="0" y="1071410"/>
                </a:lnTo>
                <a:lnTo>
                  <a:pt x="0" y="0"/>
                </a:lnTo>
                <a:close/>
              </a:path>
            </a:pathLst>
          </a:custGeom>
          <a:blipFill>
            <a:blip r:embed="rId2"/>
            <a:stretch>
              <a:fillRect l="0" t="-51" r="0" b="-50"/>
            </a:stretch>
          </a:blipFill>
        </p:spPr>
      </p:sp>
      <p:grpSp>
        <p:nvGrpSpPr>
          <p:cNvPr name="Group 4" id="4"/>
          <p:cNvGrpSpPr/>
          <p:nvPr/>
        </p:nvGrpSpPr>
        <p:grpSpPr>
          <a:xfrm rot="0">
            <a:off x="1217314" y="3809951"/>
            <a:ext cx="5100847" cy="19050"/>
            <a:chOff x="0" y="0"/>
            <a:chExt cx="6801129" cy="25400"/>
          </a:xfrm>
        </p:grpSpPr>
        <p:sp>
          <p:nvSpPr>
            <p:cNvPr name="Freeform 5" id="5"/>
            <p:cNvSpPr/>
            <p:nvPr/>
          </p:nvSpPr>
          <p:spPr>
            <a:xfrm flipH="false" flipV="false" rot="0">
              <a:off x="0" y="0"/>
              <a:ext cx="6801104" cy="25400"/>
            </a:xfrm>
            <a:custGeom>
              <a:avLst/>
              <a:gdLst/>
              <a:ahLst/>
              <a:cxnLst/>
              <a:rect r="r" b="b" t="t" l="l"/>
              <a:pathLst>
                <a:path h="25400" w="6801104">
                  <a:moveTo>
                    <a:pt x="12700" y="0"/>
                  </a:moveTo>
                  <a:lnTo>
                    <a:pt x="6788404" y="0"/>
                  </a:lnTo>
                  <a:cubicBezTo>
                    <a:pt x="6795389" y="0"/>
                    <a:pt x="6801104" y="5715"/>
                    <a:pt x="6801104" y="12700"/>
                  </a:cubicBezTo>
                  <a:cubicBezTo>
                    <a:pt x="6801104" y="19685"/>
                    <a:pt x="6795389" y="25400"/>
                    <a:pt x="6788404"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13253679" y="0"/>
            <a:ext cx="10752394" cy="10205000"/>
          </a:xfrm>
          <a:custGeom>
            <a:avLst/>
            <a:gdLst/>
            <a:ahLst/>
            <a:cxnLst/>
            <a:rect r="r" b="b" t="t" l="l"/>
            <a:pathLst>
              <a:path h="10205000" w="10752394">
                <a:moveTo>
                  <a:pt x="0" y="0"/>
                </a:moveTo>
                <a:lnTo>
                  <a:pt x="10752394" y="0"/>
                </a:lnTo>
                <a:lnTo>
                  <a:pt x="10752394" y="10205000"/>
                </a:lnTo>
                <a:lnTo>
                  <a:pt x="0" y="10205000"/>
                </a:lnTo>
                <a:lnTo>
                  <a:pt x="0" y="0"/>
                </a:lnTo>
                <a:close/>
              </a:path>
            </a:pathLst>
          </a:custGeom>
          <a:blipFill>
            <a:blip r:embed="rId3">
              <a:alphaModFix amt="17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9901638" y="2762526"/>
            <a:ext cx="7420185" cy="4485065"/>
          </a:xfrm>
          <a:custGeom>
            <a:avLst/>
            <a:gdLst/>
            <a:ahLst/>
            <a:cxnLst/>
            <a:rect r="r" b="b" t="t" l="l"/>
            <a:pathLst>
              <a:path h="4485065" w="7420185">
                <a:moveTo>
                  <a:pt x="0" y="0"/>
                </a:moveTo>
                <a:lnTo>
                  <a:pt x="7420184" y="0"/>
                </a:lnTo>
                <a:lnTo>
                  <a:pt x="7420184" y="4485066"/>
                </a:lnTo>
                <a:lnTo>
                  <a:pt x="0" y="4485066"/>
                </a:lnTo>
                <a:lnTo>
                  <a:pt x="0" y="0"/>
                </a:lnTo>
                <a:close/>
              </a:path>
            </a:pathLst>
          </a:custGeom>
          <a:blipFill>
            <a:blip r:embed="rId5"/>
            <a:stretch>
              <a:fillRect l="0" t="0" r="0" b="0"/>
            </a:stretch>
          </a:blipFill>
        </p:spPr>
      </p:sp>
      <p:sp>
        <p:nvSpPr>
          <p:cNvPr name="TextBox 8" id="8"/>
          <p:cNvSpPr txBox="true"/>
          <p:nvPr/>
        </p:nvSpPr>
        <p:spPr>
          <a:xfrm rot="0">
            <a:off x="1141238" y="7997314"/>
            <a:ext cx="6698144" cy="1289025"/>
          </a:xfrm>
          <a:prstGeom prst="rect">
            <a:avLst/>
          </a:prstGeom>
        </p:spPr>
        <p:txBody>
          <a:bodyPr anchor="t" rtlCol="false" tIns="0" lIns="0" bIns="0" rIns="0">
            <a:spAutoFit/>
          </a:bodyPr>
          <a:lstStyle/>
          <a:p>
            <a:pPr algn="l">
              <a:lnSpc>
                <a:spcPts val="3499"/>
              </a:lnSpc>
            </a:pPr>
            <a:r>
              <a:rPr lang="en-US" b="true" sz="2499" i="true">
                <a:solidFill>
                  <a:srgbClr val="333333"/>
                </a:solidFill>
                <a:latin typeface="Inter Bold Italics"/>
                <a:ea typeface="Inter Bold Italics"/>
                <a:cs typeface="Inter Bold Italics"/>
                <a:sym typeface="Inter Bold Italics"/>
              </a:rPr>
              <a:t>Sinh viên thực hiện:</a:t>
            </a:r>
          </a:p>
          <a:p>
            <a:pPr algn="l">
              <a:lnSpc>
                <a:spcPts val="3499"/>
              </a:lnSpc>
            </a:pPr>
            <a:r>
              <a:rPr lang="en-US" sz="2499">
                <a:solidFill>
                  <a:srgbClr val="000000"/>
                </a:solidFill>
                <a:latin typeface="Inter"/>
                <a:ea typeface="Inter"/>
                <a:cs typeface="Inter"/>
                <a:sym typeface="Inter"/>
              </a:rPr>
              <a:t>Trầm Khôi Nguyên – 110122126 – DA22TTB</a:t>
            </a:r>
          </a:p>
          <a:p>
            <a:pPr algn="l">
              <a:lnSpc>
                <a:spcPts val="3499"/>
              </a:lnSpc>
            </a:pPr>
            <a:r>
              <a:rPr lang="en-US" sz="2499">
                <a:solidFill>
                  <a:srgbClr val="000000"/>
                </a:solidFill>
                <a:latin typeface="Inter"/>
                <a:ea typeface="Inter"/>
                <a:cs typeface="Inter"/>
                <a:sym typeface="Inter"/>
              </a:rPr>
              <a:t>Trần Thị Yến Nhi – 110122133 – DA22TTB</a:t>
            </a:r>
          </a:p>
        </p:txBody>
      </p:sp>
      <p:sp>
        <p:nvSpPr>
          <p:cNvPr name="TextBox 9" id="9"/>
          <p:cNvSpPr txBox="true"/>
          <p:nvPr/>
        </p:nvSpPr>
        <p:spPr>
          <a:xfrm rot="0">
            <a:off x="13711933" y="8359416"/>
            <a:ext cx="4492771" cy="850875"/>
          </a:xfrm>
          <a:prstGeom prst="rect">
            <a:avLst/>
          </a:prstGeom>
        </p:spPr>
        <p:txBody>
          <a:bodyPr anchor="t" rtlCol="false" tIns="0" lIns="0" bIns="0" rIns="0">
            <a:spAutoFit/>
          </a:bodyPr>
          <a:lstStyle/>
          <a:p>
            <a:pPr algn="l">
              <a:lnSpc>
                <a:spcPts val="3499"/>
              </a:lnSpc>
            </a:pPr>
            <a:r>
              <a:rPr lang="en-US" b="true" sz="2499" i="true">
                <a:solidFill>
                  <a:srgbClr val="333333"/>
                </a:solidFill>
                <a:latin typeface="Inter Bold Italics"/>
                <a:ea typeface="Inter Bold Italics"/>
                <a:cs typeface="Inter Bold Italics"/>
                <a:sym typeface="Inter Bold Italics"/>
              </a:rPr>
              <a:t>Giảng viên hướng dẫn:</a:t>
            </a:r>
          </a:p>
          <a:p>
            <a:pPr algn="l">
              <a:lnSpc>
                <a:spcPts val="3499"/>
              </a:lnSpc>
            </a:pPr>
            <a:r>
              <a:rPr lang="en-US" sz="2499">
                <a:solidFill>
                  <a:srgbClr val="000000"/>
                </a:solidFill>
                <a:latin typeface="Inter"/>
                <a:ea typeface="Inter"/>
                <a:cs typeface="Inter"/>
                <a:sym typeface="Inter"/>
              </a:rPr>
              <a:t>ThS. Phạm Thị Trúc Mai</a:t>
            </a:r>
          </a:p>
        </p:txBody>
      </p:sp>
      <p:sp>
        <p:nvSpPr>
          <p:cNvPr name="TextBox 10" id="10"/>
          <p:cNvSpPr txBox="true"/>
          <p:nvPr/>
        </p:nvSpPr>
        <p:spPr>
          <a:xfrm rot="0">
            <a:off x="12185466" y="1104081"/>
            <a:ext cx="5575087" cy="450647"/>
          </a:xfrm>
          <a:prstGeom prst="rect">
            <a:avLst/>
          </a:prstGeom>
        </p:spPr>
        <p:txBody>
          <a:bodyPr anchor="t" rtlCol="false" tIns="0" lIns="0" bIns="0" rIns="0">
            <a:spAutoFit/>
          </a:bodyPr>
          <a:lstStyle/>
          <a:p>
            <a:pPr algn="ctr">
              <a:lnSpc>
                <a:spcPts val="3536"/>
              </a:lnSpc>
            </a:pPr>
            <a:r>
              <a:rPr lang="en-US" sz="2600" b="true">
                <a:solidFill>
                  <a:srgbClr val="276399"/>
                </a:solidFill>
                <a:latin typeface="Inter Bold"/>
                <a:ea typeface="Inter Bold"/>
                <a:cs typeface="Inter Bold"/>
                <a:sym typeface="Inter Bold"/>
              </a:rPr>
              <a:t>BÁO CÁO ĐỒ ÁN MÔN HỌC</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sp>
        <p:nvSpPr>
          <p:cNvPr name="TextBox 4" id="4"/>
          <p:cNvSpPr txBox="true"/>
          <p:nvPr/>
        </p:nvSpPr>
        <p:spPr>
          <a:xfrm rot="0">
            <a:off x="1041749" y="669046"/>
            <a:ext cx="3914013" cy="428625"/>
          </a:xfrm>
          <a:prstGeom prst="rect">
            <a:avLst/>
          </a:prstGeom>
        </p:spPr>
        <p:txBody>
          <a:bodyPr anchor="t" rtlCol="false" tIns="0" lIns="0" bIns="0" rIns="0">
            <a:spAutoFit/>
          </a:bodyPr>
          <a:lstStyle/>
          <a:p>
            <a:pPr algn="l">
              <a:lnSpc>
                <a:spcPts val="3120"/>
              </a:lnSpc>
            </a:pPr>
            <a:r>
              <a:rPr lang="en-US" sz="2600" i="true" spc="72">
                <a:solidFill>
                  <a:srgbClr val="276399"/>
                </a:solidFill>
                <a:latin typeface="Arimo Italics"/>
                <a:ea typeface="Arimo Italics"/>
                <a:cs typeface="Arimo Italics"/>
                <a:sym typeface="Arimo Italics"/>
              </a:rPr>
              <a:t>Nội dung báo cáo</a:t>
            </a:r>
          </a:p>
        </p:txBody>
      </p:sp>
      <p:sp>
        <p:nvSpPr>
          <p:cNvPr name="TextBox 5" id="5"/>
          <p:cNvSpPr txBox="true"/>
          <p:nvPr/>
        </p:nvSpPr>
        <p:spPr>
          <a:xfrm rot="0">
            <a:off x="1041749" y="1059571"/>
            <a:ext cx="5568182" cy="42862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Tóm tắt nội dung</a:t>
            </a:r>
          </a:p>
        </p:txBody>
      </p:sp>
      <p:grpSp>
        <p:nvGrpSpPr>
          <p:cNvPr name="Group 6" id="6"/>
          <p:cNvGrpSpPr/>
          <p:nvPr/>
        </p:nvGrpSpPr>
        <p:grpSpPr>
          <a:xfrm rot="0">
            <a:off x="696649" y="9248775"/>
            <a:ext cx="16891302" cy="19050"/>
            <a:chOff x="0" y="0"/>
            <a:chExt cx="22521736" cy="25400"/>
          </a:xfrm>
        </p:grpSpPr>
        <p:sp>
          <p:nvSpPr>
            <p:cNvPr name="Freeform 7" id="7"/>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8" id="8"/>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9" id="9"/>
          <p:cNvSpPr txBox="true"/>
          <p:nvPr/>
        </p:nvSpPr>
        <p:spPr>
          <a:xfrm rot="0">
            <a:off x="17259300" y="9350588"/>
            <a:ext cx="245945" cy="42862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a:t>
            </a:r>
          </a:p>
        </p:txBody>
      </p:sp>
      <p:grpSp>
        <p:nvGrpSpPr>
          <p:cNvPr name="Group 10" id="10"/>
          <p:cNvGrpSpPr/>
          <p:nvPr/>
        </p:nvGrpSpPr>
        <p:grpSpPr>
          <a:xfrm rot="0">
            <a:off x="1603686" y="3049810"/>
            <a:ext cx="769953" cy="769953"/>
            <a:chOff x="0" y="0"/>
            <a:chExt cx="1026604" cy="1026604"/>
          </a:xfrm>
        </p:grpSpPr>
        <p:sp>
          <p:nvSpPr>
            <p:cNvPr name="Freeform 11" id="11"/>
            <p:cNvSpPr/>
            <p:nvPr/>
          </p:nvSpPr>
          <p:spPr>
            <a:xfrm flipH="false" flipV="false" rot="0">
              <a:off x="0" y="0"/>
              <a:ext cx="1026668" cy="1026668"/>
            </a:xfrm>
            <a:custGeom>
              <a:avLst/>
              <a:gdLst/>
              <a:ahLst/>
              <a:cxnLst/>
              <a:rect r="r" b="b" t="t" l="l"/>
              <a:pathLst>
                <a:path h="1026668" w="1026668">
                  <a:moveTo>
                    <a:pt x="513334" y="0"/>
                  </a:moveTo>
                  <a:cubicBezTo>
                    <a:pt x="229870" y="0"/>
                    <a:pt x="0" y="229870"/>
                    <a:pt x="0" y="513334"/>
                  </a:cubicBezTo>
                  <a:cubicBezTo>
                    <a:pt x="0" y="796798"/>
                    <a:pt x="229870" y="1026668"/>
                    <a:pt x="513334" y="1026668"/>
                  </a:cubicBezTo>
                  <a:cubicBezTo>
                    <a:pt x="796798" y="1026668"/>
                    <a:pt x="1026668" y="796798"/>
                    <a:pt x="1026668" y="513334"/>
                  </a:cubicBezTo>
                  <a:cubicBezTo>
                    <a:pt x="1026668" y="229870"/>
                    <a:pt x="796798" y="0"/>
                    <a:pt x="513334" y="0"/>
                  </a:cubicBezTo>
                  <a:close/>
                </a:path>
              </a:pathLst>
            </a:custGeom>
            <a:solidFill>
              <a:srgbClr val="2E75B6">
                <a:alpha val="48627"/>
              </a:srgbClr>
            </a:solidFill>
            <a:ln w="12700">
              <a:solidFill>
                <a:srgbClr val="000000"/>
              </a:solidFill>
            </a:ln>
          </p:spPr>
        </p:sp>
      </p:grpSp>
      <p:grpSp>
        <p:nvGrpSpPr>
          <p:cNvPr name="Group 12" id="12"/>
          <p:cNvGrpSpPr/>
          <p:nvPr/>
        </p:nvGrpSpPr>
        <p:grpSpPr>
          <a:xfrm rot="0">
            <a:off x="1675867" y="3076880"/>
            <a:ext cx="625592" cy="670703"/>
            <a:chOff x="0" y="0"/>
            <a:chExt cx="834123" cy="894271"/>
          </a:xfrm>
        </p:grpSpPr>
        <p:sp>
          <p:nvSpPr>
            <p:cNvPr name="Freeform 13" id="13"/>
            <p:cNvSpPr/>
            <p:nvPr/>
          </p:nvSpPr>
          <p:spPr>
            <a:xfrm flipH="false" flipV="false" rot="0">
              <a:off x="0" y="0"/>
              <a:ext cx="834120" cy="894272"/>
            </a:xfrm>
            <a:custGeom>
              <a:avLst/>
              <a:gdLst/>
              <a:ahLst/>
              <a:cxnLst/>
              <a:rect r="r" b="b" t="t" l="l"/>
              <a:pathLst>
                <a:path h="894272" w="834120">
                  <a:moveTo>
                    <a:pt x="0" y="0"/>
                  </a:moveTo>
                  <a:lnTo>
                    <a:pt x="834120" y="0"/>
                  </a:lnTo>
                  <a:lnTo>
                    <a:pt x="834120" y="894272"/>
                  </a:lnTo>
                  <a:lnTo>
                    <a:pt x="0" y="894272"/>
                  </a:lnTo>
                  <a:close/>
                </a:path>
              </a:pathLst>
            </a:custGeom>
            <a:solidFill>
              <a:srgbClr val="000000">
                <a:alpha val="0"/>
              </a:srgbClr>
            </a:solidFill>
            <a:ln w="12700">
              <a:solidFill>
                <a:srgbClr val="000000"/>
              </a:solidFill>
            </a:ln>
          </p:spPr>
        </p:sp>
        <p:sp>
          <p:nvSpPr>
            <p:cNvPr name="TextBox 14" id="14"/>
            <p:cNvSpPr txBox="true"/>
            <p:nvPr/>
          </p:nvSpPr>
          <p:spPr>
            <a:xfrm>
              <a:off x="0" y="-38100"/>
              <a:ext cx="834123" cy="932371"/>
            </a:xfrm>
            <a:prstGeom prst="rect">
              <a:avLst/>
            </a:prstGeom>
          </p:spPr>
          <p:txBody>
            <a:bodyPr anchor="ctr" rtlCol="false" tIns="0" lIns="0" bIns="0" rIns="0"/>
            <a:lstStyle/>
            <a:p>
              <a:pPr algn="ctr">
                <a:lnSpc>
                  <a:spcPts val="3499"/>
                </a:lnSpc>
              </a:pPr>
              <a:r>
                <a:rPr lang="en-US" sz="2499" b="true">
                  <a:solidFill>
                    <a:srgbClr val="FEFFFE"/>
                  </a:solidFill>
                  <a:latin typeface="Inter Bold"/>
                  <a:ea typeface="Inter Bold"/>
                  <a:cs typeface="Inter Bold"/>
                  <a:sym typeface="Inter Bold"/>
                </a:rPr>
                <a:t>01</a:t>
              </a:r>
            </a:p>
          </p:txBody>
        </p:sp>
      </p:grpSp>
      <p:sp>
        <p:nvSpPr>
          <p:cNvPr name="TextBox 15" id="15"/>
          <p:cNvSpPr txBox="true"/>
          <p:nvPr/>
        </p:nvSpPr>
        <p:spPr>
          <a:xfrm rot="0">
            <a:off x="2604402" y="3115694"/>
            <a:ext cx="5089617" cy="569204"/>
          </a:xfrm>
          <a:prstGeom prst="rect">
            <a:avLst/>
          </a:prstGeom>
        </p:spPr>
        <p:txBody>
          <a:bodyPr anchor="t" rtlCol="false" tIns="0" lIns="0" bIns="0" rIns="0">
            <a:spAutoFit/>
          </a:bodyPr>
          <a:lstStyle/>
          <a:p>
            <a:pPr algn="l">
              <a:lnSpc>
                <a:spcPts val="4559"/>
              </a:lnSpc>
            </a:pPr>
            <a:r>
              <a:rPr lang="en-US" b="true" sz="3799" spc="105">
                <a:solidFill>
                  <a:srgbClr val="225686">
                    <a:alpha val="81961"/>
                  </a:srgbClr>
                </a:solidFill>
                <a:latin typeface="Arimo Bold"/>
                <a:ea typeface="Arimo Bold"/>
                <a:cs typeface="Arimo Bold"/>
                <a:sym typeface="Arimo Bold"/>
              </a:rPr>
              <a:t>LÝ DO CHỌN ĐỀ TÀI</a:t>
            </a:r>
          </a:p>
        </p:txBody>
      </p:sp>
      <p:grpSp>
        <p:nvGrpSpPr>
          <p:cNvPr name="Group 16" id="16"/>
          <p:cNvGrpSpPr/>
          <p:nvPr/>
        </p:nvGrpSpPr>
        <p:grpSpPr>
          <a:xfrm rot="0">
            <a:off x="1603686" y="4551283"/>
            <a:ext cx="769953" cy="769953"/>
            <a:chOff x="0" y="0"/>
            <a:chExt cx="1026604" cy="1026604"/>
          </a:xfrm>
        </p:grpSpPr>
        <p:sp>
          <p:nvSpPr>
            <p:cNvPr name="Freeform 17" id="17"/>
            <p:cNvSpPr/>
            <p:nvPr/>
          </p:nvSpPr>
          <p:spPr>
            <a:xfrm flipH="false" flipV="false" rot="0">
              <a:off x="0" y="0"/>
              <a:ext cx="1026668" cy="1026668"/>
            </a:xfrm>
            <a:custGeom>
              <a:avLst/>
              <a:gdLst/>
              <a:ahLst/>
              <a:cxnLst/>
              <a:rect r="r" b="b" t="t" l="l"/>
              <a:pathLst>
                <a:path h="1026668" w="1026668">
                  <a:moveTo>
                    <a:pt x="513334" y="0"/>
                  </a:moveTo>
                  <a:cubicBezTo>
                    <a:pt x="229870" y="0"/>
                    <a:pt x="0" y="229870"/>
                    <a:pt x="0" y="513334"/>
                  </a:cubicBezTo>
                  <a:cubicBezTo>
                    <a:pt x="0" y="796798"/>
                    <a:pt x="229870" y="1026668"/>
                    <a:pt x="513334" y="1026668"/>
                  </a:cubicBezTo>
                  <a:cubicBezTo>
                    <a:pt x="796798" y="1026668"/>
                    <a:pt x="1026668" y="796798"/>
                    <a:pt x="1026668" y="513334"/>
                  </a:cubicBezTo>
                  <a:cubicBezTo>
                    <a:pt x="1026668" y="229870"/>
                    <a:pt x="796798" y="0"/>
                    <a:pt x="513334" y="0"/>
                  </a:cubicBezTo>
                  <a:close/>
                </a:path>
              </a:pathLst>
            </a:custGeom>
            <a:solidFill>
              <a:srgbClr val="2E75B6">
                <a:alpha val="48627"/>
              </a:srgbClr>
            </a:solidFill>
            <a:ln w="12700">
              <a:solidFill>
                <a:srgbClr val="000000"/>
              </a:solidFill>
            </a:ln>
          </p:spPr>
        </p:sp>
      </p:grpSp>
      <p:grpSp>
        <p:nvGrpSpPr>
          <p:cNvPr name="Group 18" id="18"/>
          <p:cNvGrpSpPr/>
          <p:nvPr/>
        </p:nvGrpSpPr>
        <p:grpSpPr>
          <a:xfrm rot="0">
            <a:off x="1675867" y="4619958"/>
            <a:ext cx="625592" cy="670703"/>
            <a:chOff x="0" y="0"/>
            <a:chExt cx="834123" cy="894271"/>
          </a:xfrm>
        </p:grpSpPr>
        <p:sp>
          <p:nvSpPr>
            <p:cNvPr name="Freeform 19" id="19"/>
            <p:cNvSpPr/>
            <p:nvPr/>
          </p:nvSpPr>
          <p:spPr>
            <a:xfrm flipH="false" flipV="false" rot="0">
              <a:off x="0" y="0"/>
              <a:ext cx="834120" cy="894272"/>
            </a:xfrm>
            <a:custGeom>
              <a:avLst/>
              <a:gdLst/>
              <a:ahLst/>
              <a:cxnLst/>
              <a:rect r="r" b="b" t="t" l="l"/>
              <a:pathLst>
                <a:path h="894272" w="834120">
                  <a:moveTo>
                    <a:pt x="0" y="0"/>
                  </a:moveTo>
                  <a:lnTo>
                    <a:pt x="834120" y="0"/>
                  </a:lnTo>
                  <a:lnTo>
                    <a:pt x="834120" y="894272"/>
                  </a:lnTo>
                  <a:lnTo>
                    <a:pt x="0" y="894272"/>
                  </a:lnTo>
                  <a:close/>
                </a:path>
              </a:pathLst>
            </a:custGeom>
            <a:solidFill>
              <a:srgbClr val="000000">
                <a:alpha val="0"/>
              </a:srgbClr>
            </a:solidFill>
            <a:ln w="12700">
              <a:solidFill>
                <a:srgbClr val="000000"/>
              </a:solidFill>
            </a:ln>
          </p:spPr>
        </p:sp>
        <p:sp>
          <p:nvSpPr>
            <p:cNvPr name="TextBox 20" id="20"/>
            <p:cNvSpPr txBox="true"/>
            <p:nvPr/>
          </p:nvSpPr>
          <p:spPr>
            <a:xfrm>
              <a:off x="0" y="-38100"/>
              <a:ext cx="834123" cy="932371"/>
            </a:xfrm>
            <a:prstGeom prst="rect">
              <a:avLst/>
            </a:prstGeom>
          </p:spPr>
          <p:txBody>
            <a:bodyPr anchor="ctr" rtlCol="false" tIns="0" lIns="0" bIns="0" rIns="0"/>
            <a:lstStyle/>
            <a:p>
              <a:pPr algn="ctr">
                <a:lnSpc>
                  <a:spcPts val="3499"/>
                </a:lnSpc>
              </a:pPr>
              <a:r>
                <a:rPr lang="en-US" sz="2499" b="true">
                  <a:solidFill>
                    <a:srgbClr val="FEFFFE"/>
                  </a:solidFill>
                  <a:latin typeface="Inter Bold"/>
                  <a:ea typeface="Inter Bold"/>
                  <a:cs typeface="Inter Bold"/>
                  <a:sym typeface="Inter Bold"/>
                </a:rPr>
                <a:t>02</a:t>
              </a:r>
            </a:p>
          </p:txBody>
        </p:sp>
      </p:grpSp>
      <p:sp>
        <p:nvSpPr>
          <p:cNvPr name="TextBox 21" id="21"/>
          <p:cNvSpPr txBox="true"/>
          <p:nvPr/>
        </p:nvSpPr>
        <p:spPr>
          <a:xfrm rot="0">
            <a:off x="2604402" y="4658782"/>
            <a:ext cx="4651858" cy="569204"/>
          </a:xfrm>
          <a:prstGeom prst="rect">
            <a:avLst/>
          </a:prstGeom>
        </p:spPr>
        <p:txBody>
          <a:bodyPr anchor="t" rtlCol="false" tIns="0" lIns="0" bIns="0" rIns="0">
            <a:spAutoFit/>
          </a:bodyPr>
          <a:lstStyle/>
          <a:p>
            <a:pPr algn="l">
              <a:lnSpc>
                <a:spcPts val="4559"/>
              </a:lnSpc>
            </a:pPr>
            <a:r>
              <a:rPr lang="en-US" b="true" sz="3799" spc="105">
                <a:solidFill>
                  <a:srgbClr val="225686">
                    <a:alpha val="81961"/>
                  </a:srgbClr>
                </a:solidFill>
                <a:latin typeface="Arimo Bold"/>
                <a:ea typeface="Arimo Bold"/>
                <a:cs typeface="Arimo Bold"/>
                <a:sym typeface="Arimo Bold"/>
              </a:rPr>
              <a:t>CƠ SỞ LÝ THUYẾT</a:t>
            </a:r>
          </a:p>
        </p:txBody>
      </p:sp>
      <p:grpSp>
        <p:nvGrpSpPr>
          <p:cNvPr name="Group 22" id="22"/>
          <p:cNvGrpSpPr/>
          <p:nvPr/>
        </p:nvGrpSpPr>
        <p:grpSpPr>
          <a:xfrm rot="0">
            <a:off x="1603686" y="6322666"/>
            <a:ext cx="769953" cy="769953"/>
            <a:chOff x="0" y="0"/>
            <a:chExt cx="1026604" cy="1026604"/>
          </a:xfrm>
        </p:grpSpPr>
        <p:sp>
          <p:nvSpPr>
            <p:cNvPr name="Freeform 23" id="23"/>
            <p:cNvSpPr/>
            <p:nvPr/>
          </p:nvSpPr>
          <p:spPr>
            <a:xfrm flipH="false" flipV="false" rot="0">
              <a:off x="0" y="0"/>
              <a:ext cx="1026668" cy="1026668"/>
            </a:xfrm>
            <a:custGeom>
              <a:avLst/>
              <a:gdLst/>
              <a:ahLst/>
              <a:cxnLst/>
              <a:rect r="r" b="b" t="t" l="l"/>
              <a:pathLst>
                <a:path h="1026668" w="1026668">
                  <a:moveTo>
                    <a:pt x="513334" y="0"/>
                  </a:moveTo>
                  <a:cubicBezTo>
                    <a:pt x="229870" y="0"/>
                    <a:pt x="0" y="229870"/>
                    <a:pt x="0" y="513334"/>
                  </a:cubicBezTo>
                  <a:cubicBezTo>
                    <a:pt x="0" y="796798"/>
                    <a:pt x="229870" y="1026668"/>
                    <a:pt x="513334" y="1026668"/>
                  </a:cubicBezTo>
                  <a:cubicBezTo>
                    <a:pt x="796798" y="1026668"/>
                    <a:pt x="1026668" y="796798"/>
                    <a:pt x="1026668" y="513334"/>
                  </a:cubicBezTo>
                  <a:cubicBezTo>
                    <a:pt x="1026668" y="229870"/>
                    <a:pt x="796798" y="0"/>
                    <a:pt x="513334" y="0"/>
                  </a:cubicBezTo>
                  <a:close/>
                </a:path>
              </a:pathLst>
            </a:custGeom>
            <a:solidFill>
              <a:srgbClr val="2E75B6">
                <a:alpha val="48627"/>
              </a:srgbClr>
            </a:solidFill>
            <a:ln w="12700">
              <a:solidFill>
                <a:srgbClr val="000000"/>
              </a:solidFill>
            </a:ln>
          </p:spPr>
        </p:sp>
      </p:grpSp>
      <p:grpSp>
        <p:nvGrpSpPr>
          <p:cNvPr name="Group 24" id="24"/>
          <p:cNvGrpSpPr/>
          <p:nvPr/>
        </p:nvGrpSpPr>
        <p:grpSpPr>
          <a:xfrm rot="0">
            <a:off x="1675867" y="6349736"/>
            <a:ext cx="625592" cy="670703"/>
            <a:chOff x="0" y="0"/>
            <a:chExt cx="834123" cy="894271"/>
          </a:xfrm>
        </p:grpSpPr>
        <p:sp>
          <p:nvSpPr>
            <p:cNvPr name="Freeform 25" id="25"/>
            <p:cNvSpPr/>
            <p:nvPr/>
          </p:nvSpPr>
          <p:spPr>
            <a:xfrm flipH="false" flipV="false" rot="0">
              <a:off x="0" y="0"/>
              <a:ext cx="834120" cy="894273"/>
            </a:xfrm>
            <a:custGeom>
              <a:avLst/>
              <a:gdLst/>
              <a:ahLst/>
              <a:cxnLst/>
              <a:rect r="r" b="b" t="t" l="l"/>
              <a:pathLst>
                <a:path h="894273" w="834120">
                  <a:moveTo>
                    <a:pt x="0" y="0"/>
                  </a:moveTo>
                  <a:lnTo>
                    <a:pt x="834120" y="0"/>
                  </a:lnTo>
                  <a:lnTo>
                    <a:pt x="834120" y="894273"/>
                  </a:lnTo>
                  <a:lnTo>
                    <a:pt x="0" y="894273"/>
                  </a:lnTo>
                  <a:close/>
                </a:path>
              </a:pathLst>
            </a:custGeom>
            <a:solidFill>
              <a:srgbClr val="000000">
                <a:alpha val="0"/>
              </a:srgbClr>
            </a:solidFill>
            <a:ln w="12700">
              <a:solidFill>
                <a:srgbClr val="000000"/>
              </a:solidFill>
            </a:ln>
          </p:spPr>
        </p:sp>
        <p:sp>
          <p:nvSpPr>
            <p:cNvPr name="TextBox 26" id="26"/>
            <p:cNvSpPr txBox="true"/>
            <p:nvPr/>
          </p:nvSpPr>
          <p:spPr>
            <a:xfrm>
              <a:off x="0" y="-38100"/>
              <a:ext cx="834123" cy="932371"/>
            </a:xfrm>
            <a:prstGeom prst="rect">
              <a:avLst/>
            </a:prstGeom>
          </p:spPr>
          <p:txBody>
            <a:bodyPr anchor="ctr" rtlCol="false" tIns="0" lIns="0" bIns="0" rIns="0"/>
            <a:lstStyle/>
            <a:p>
              <a:pPr algn="ctr">
                <a:lnSpc>
                  <a:spcPts val="3499"/>
                </a:lnSpc>
              </a:pPr>
              <a:r>
                <a:rPr lang="en-US" sz="2499" b="true">
                  <a:solidFill>
                    <a:srgbClr val="FEFFFE"/>
                  </a:solidFill>
                  <a:latin typeface="Inter Bold"/>
                  <a:ea typeface="Inter Bold"/>
                  <a:cs typeface="Inter Bold"/>
                  <a:sym typeface="Inter Bold"/>
                </a:rPr>
                <a:t>03</a:t>
              </a:r>
            </a:p>
          </p:txBody>
        </p:sp>
      </p:grpSp>
      <p:sp>
        <p:nvSpPr>
          <p:cNvPr name="TextBox 27" id="27"/>
          <p:cNvSpPr txBox="true"/>
          <p:nvPr/>
        </p:nvSpPr>
        <p:spPr>
          <a:xfrm rot="0">
            <a:off x="2695499" y="6102810"/>
            <a:ext cx="5140938" cy="1198864"/>
          </a:xfrm>
          <a:prstGeom prst="rect">
            <a:avLst/>
          </a:prstGeom>
        </p:spPr>
        <p:txBody>
          <a:bodyPr anchor="t" rtlCol="false" tIns="0" lIns="0" bIns="0" rIns="0">
            <a:spAutoFit/>
          </a:bodyPr>
          <a:lstStyle/>
          <a:p>
            <a:pPr algn="l">
              <a:lnSpc>
                <a:spcPts val="4559"/>
              </a:lnSpc>
            </a:pPr>
            <a:r>
              <a:rPr lang="en-US" b="true" sz="3799" spc="102">
                <a:solidFill>
                  <a:srgbClr val="225686">
                    <a:alpha val="81961"/>
                  </a:srgbClr>
                </a:solidFill>
                <a:latin typeface="Arimo Bold"/>
                <a:ea typeface="Arimo Bold"/>
                <a:cs typeface="Arimo Bold"/>
                <a:sym typeface="Arimo Bold"/>
              </a:rPr>
              <a:t>PHÂN TÍCH VÀ THIẾT KẾ HỆ THỐNG</a:t>
            </a:r>
          </a:p>
        </p:txBody>
      </p:sp>
      <p:grpSp>
        <p:nvGrpSpPr>
          <p:cNvPr name="Group 28" id="28"/>
          <p:cNvGrpSpPr/>
          <p:nvPr/>
        </p:nvGrpSpPr>
        <p:grpSpPr>
          <a:xfrm rot="0">
            <a:off x="8993524" y="3023683"/>
            <a:ext cx="769953" cy="769953"/>
            <a:chOff x="0" y="0"/>
            <a:chExt cx="1026604" cy="1026604"/>
          </a:xfrm>
        </p:grpSpPr>
        <p:sp>
          <p:nvSpPr>
            <p:cNvPr name="Freeform 29" id="29"/>
            <p:cNvSpPr/>
            <p:nvPr/>
          </p:nvSpPr>
          <p:spPr>
            <a:xfrm flipH="false" flipV="false" rot="0">
              <a:off x="0" y="0"/>
              <a:ext cx="1026668" cy="1026668"/>
            </a:xfrm>
            <a:custGeom>
              <a:avLst/>
              <a:gdLst/>
              <a:ahLst/>
              <a:cxnLst/>
              <a:rect r="r" b="b" t="t" l="l"/>
              <a:pathLst>
                <a:path h="1026668" w="1026668">
                  <a:moveTo>
                    <a:pt x="513334" y="0"/>
                  </a:moveTo>
                  <a:cubicBezTo>
                    <a:pt x="229870" y="0"/>
                    <a:pt x="0" y="229870"/>
                    <a:pt x="0" y="513334"/>
                  </a:cubicBezTo>
                  <a:cubicBezTo>
                    <a:pt x="0" y="796798"/>
                    <a:pt x="229870" y="1026668"/>
                    <a:pt x="513334" y="1026668"/>
                  </a:cubicBezTo>
                  <a:cubicBezTo>
                    <a:pt x="796798" y="1026668"/>
                    <a:pt x="1026668" y="796798"/>
                    <a:pt x="1026668" y="513334"/>
                  </a:cubicBezTo>
                  <a:cubicBezTo>
                    <a:pt x="1026668" y="229870"/>
                    <a:pt x="796798" y="0"/>
                    <a:pt x="513334" y="0"/>
                  </a:cubicBezTo>
                  <a:close/>
                </a:path>
              </a:pathLst>
            </a:custGeom>
            <a:solidFill>
              <a:srgbClr val="2E75B6">
                <a:alpha val="48627"/>
              </a:srgbClr>
            </a:solidFill>
            <a:ln w="12700">
              <a:solidFill>
                <a:srgbClr val="000000"/>
              </a:solidFill>
            </a:ln>
          </p:spPr>
        </p:sp>
      </p:grpSp>
      <p:grpSp>
        <p:nvGrpSpPr>
          <p:cNvPr name="Group 30" id="30"/>
          <p:cNvGrpSpPr/>
          <p:nvPr/>
        </p:nvGrpSpPr>
        <p:grpSpPr>
          <a:xfrm rot="0">
            <a:off x="9065704" y="3050753"/>
            <a:ext cx="625592" cy="670703"/>
            <a:chOff x="0" y="0"/>
            <a:chExt cx="834123" cy="894271"/>
          </a:xfrm>
        </p:grpSpPr>
        <p:sp>
          <p:nvSpPr>
            <p:cNvPr name="Freeform 31" id="31"/>
            <p:cNvSpPr/>
            <p:nvPr/>
          </p:nvSpPr>
          <p:spPr>
            <a:xfrm flipH="false" flipV="false" rot="0">
              <a:off x="0" y="0"/>
              <a:ext cx="834120" cy="894273"/>
            </a:xfrm>
            <a:custGeom>
              <a:avLst/>
              <a:gdLst/>
              <a:ahLst/>
              <a:cxnLst/>
              <a:rect r="r" b="b" t="t" l="l"/>
              <a:pathLst>
                <a:path h="894273" w="834120">
                  <a:moveTo>
                    <a:pt x="0" y="0"/>
                  </a:moveTo>
                  <a:lnTo>
                    <a:pt x="834120" y="0"/>
                  </a:lnTo>
                  <a:lnTo>
                    <a:pt x="834120" y="894273"/>
                  </a:lnTo>
                  <a:lnTo>
                    <a:pt x="0" y="894273"/>
                  </a:lnTo>
                  <a:close/>
                </a:path>
              </a:pathLst>
            </a:custGeom>
            <a:solidFill>
              <a:srgbClr val="000000">
                <a:alpha val="0"/>
              </a:srgbClr>
            </a:solidFill>
            <a:ln w="12700">
              <a:solidFill>
                <a:srgbClr val="000000"/>
              </a:solidFill>
            </a:ln>
          </p:spPr>
        </p:sp>
        <p:sp>
          <p:nvSpPr>
            <p:cNvPr name="TextBox 32" id="32"/>
            <p:cNvSpPr txBox="true"/>
            <p:nvPr/>
          </p:nvSpPr>
          <p:spPr>
            <a:xfrm>
              <a:off x="0" y="-38100"/>
              <a:ext cx="834123" cy="932371"/>
            </a:xfrm>
            <a:prstGeom prst="rect">
              <a:avLst/>
            </a:prstGeom>
          </p:spPr>
          <p:txBody>
            <a:bodyPr anchor="ctr" rtlCol="false" tIns="0" lIns="0" bIns="0" rIns="0"/>
            <a:lstStyle/>
            <a:p>
              <a:pPr algn="ctr">
                <a:lnSpc>
                  <a:spcPts val="3499"/>
                </a:lnSpc>
              </a:pPr>
              <a:r>
                <a:rPr lang="en-US" sz="2499" b="true">
                  <a:solidFill>
                    <a:srgbClr val="FEFFFE"/>
                  </a:solidFill>
                  <a:latin typeface="Inter Bold"/>
                  <a:ea typeface="Inter Bold"/>
                  <a:cs typeface="Inter Bold"/>
                  <a:sym typeface="Inter Bold"/>
                </a:rPr>
                <a:t>04</a:t>
              </a:r>
            </a:p>
          </p:txBody>
        </p:sp>
      </p:grpSp>
      <p:sp>
        <p:nvSpPr>
          <p:cNvPr name="TextBox 33" id="33"/>
          <p:cNvSpPr txBox="true"/>
          <p:nvPr/>
        </p:nvSpPr>
        <p:spPr>
          <a:xfrm rot="0">
            <a:off x="10003765" y="3112399"/>
            <a:ext cx="6668805" cy="569204"/>
          </a:xfrm>
          <a:prstGeom prst="rect">
            <a:avLst/>
          </a:prstGeom>
        </p:spPr>
        <p:txBody>
          <a:bodyPr anchor="t" rtlCol="false" tIns="0" lIns="0" bIns="0" rIns="0">
            <a:spAutoFit/>
          </a:bodyPr>
          <a:lstStyle/>
          <a:p>
            <a:pPr algn="l">
              <a:lnSpc>
                <a:spcPts val="4559"/>
              </a:lnSpc>
            </a:pPr>
            <a:r>
              <a:rPr lang="en-US" b="true" sz="3799" spc="105">
                <a:solidFill>
                  <a:srgbClr val="225686">
                    <a:alpha val="81961"/>
                  </a:srgbClr>
                </a:solidFill>
                <a:latin typeface="Arimo Bold"/>
                <a:ea typeface="Arimo Bold"/>
                <a:cs typeface="Arimo Bold"/>
                <a:sym typeface="Arimo Bold"/>
              </a:rPr>
              <a:t>XÂY DỰNG WEBSITE</a:t>
            </a:r>
          </a:p>
        </p:txBody>
      </p:sp>
      <p:grpSp>
        <p:nvGrpSpPr>
          <p:cNvPr name="Group 34" id="34"/>
          <p:cNvGrpSpPr/>
          <p:nvPr/>
        </p:nvGrpSpPr>
        <p:grpSpPr>
          <a:xfrm rot="0">
            <a:off x="9003049" y="4538224"/>
            <a:ext cx="769953" cy="769953"/>
            <a:chOff x="0" y="0"/>
            <a:chExt cx="1026604" cy="1026604"/>
          </a:xfrm>
        </p:grpSpPr>
        <p:sp>
          <p:nvSpPr>
            <p:cNvPr name="Freeform 35" id="35"/>
            <p:cNvSpPr/>
            <p:nvPr/>
          </p:nvSpPr>
          <p:spPr>
            <a:xfrm flipH="false" flipV="false" rot="0">
              <a:off x="0" y="0"/>
              <a:ext cx="1026668" cy="1026668"/>
            </a:xfrm>
            <a:custGeom>
              <a:avLst/>
              <a:gdLst/>
              <a:ahLst/>
              <a:cxnLst/>
              <a:rect r="r" b="b" t="t" l="l"/>
              <a:pathLst>
                <a:path h="1026668" w="1026668">
                  <a:moveTo>
                    <a:pt x="513334" y="0"/>
                  </a:moveTo>
                  <a:cubicBezTo>
                    <a:pt x="229870" y="0"/>
                    <a:pt x="0" y="229870"/>
                    <a:pt x="0" y="513334"/>
                  </a:cubicBezTo>
                  <a:cubicBezTo>
                    <a:pt x="0" y="796798"/>
                    <a:pt x="229870" y="1026668"/>
                    <a:pt x="513334" y="1026668"/>
                  </a:cubicBezTo>
                  <a:cubicBezTo>
                    <a:pt x="796798" y="1026668"/>
                    <a:pt x="1026668" y="796798"/>
                    <a:pt x="1026668" y="513334"/>
                  </a:cubicBezTo>
                  <a:cubicBezTo>
                    <a:pt x="1026668" y="229870"/>
                    <a:pt x="796798" y="0"/>
                    <a:pt x="513334" y="0"/>
                  </a:cubicBezTo>
                  <a:close/>
                </a:path>
              </a:pathLst>
            </a:custGeom>
            <a:solidFill>
              <a:srgbClr val="2E75B6">
                <a:alpha val="48627"/>
              </a:srgbClr>
            </a:solidFill>
            <a:ln w="12700">
              <a:solidFill>
                <a:srgbClr val="000000"/>
              </a:solidFill>
            </a:ln>
          </p:spPr>
        </p:sp>
      </p:grpSp>
      <p:grpSp>
        <p:nvGrpSpPr>
          <p:cNvPr name="Group 36" id="36"/>
          <p:cNvGrpSpPr/>
          <p:nvPr/>
        </p:nvGrpSpPr>
        <p:grpSpPr>
          <a:xfrm rot="0">
            <a:off x="9075230" y="4565285"/>
            <a:ext cx="625592" cy="670703"/>
            <a:chOff x="0" y="0"/>
            <a:chExt cx="834123" cy="894271"/>
          </a:xfrm>
        </p:grpSpPr>
        <p:sp>
          <p:nvSpPr>
            <p:cNvPr name="Freeform 37" id="37"/>
            <p:cNvSpPr/>
            <p:nvPr/>
          </p:nvSpPr>
          <p:spPr>
            <a:xfrm flipH="false" flipV="false" rot="0">
              <a:off x="0" y="0"/>
              <a:ext cx="834120" cy="894273"/>
            </a:xfrm>
            <a:custGeom>
              <a:avLst/>
              <a:gdLst/>
              <a:ahLst/>
              <a:cxnLst/>
              <a:rect r="r" b="b" t="t" l="l"/>
              <a:pathLst>
                <a:path h="894273" w="834120">
                  <a:moveTo>
                    <a:pt x="0" y="0"/>
                  </a:moveTo>
                  <a:lnTo>
                    <a:pt x="834120" y="0"/>
                  </a:lnTo>
                  <a:lnTo>
                    <a:pt x="834120" y="894273"/>
                  </a:lnTo>
                  <a:lnTo>
                    <a:pt x="0" y="894273"/>
                  </a:lnTo>
                  <a:close/>
                </a:path>
              </a:pathLst>
            </a:custGeom>
            <a:solidFill>
              <a:srgbClr val="000000">
                <a:alpha val="0"/>
              </a:srgbClr>
            </a:solidFill>
            <a:ln w="12700">
              <a:solidFill>
                <a:srgbClr val="000000"/>
              </a:solidFill>
            </a:ln>
          </p:spPr>
        </p:sp>
        <p:sp>
          <p:nvSpPr>
            <p:cNvPr name="TextBox 38" id="38"/>
            <p:cNvSpPr txBox="true"/>
            <p:nvPr/>
          </p:nvSpPr>
          <p:spPr>
            <a:xfrm>
              <a:off x="0" y="-38100"/>
              <a:ext cx="834123" cy="932371"/>
            </a:xfrm>
            <a:prstGeom prst="rect">
              <a:avLst/>
            </a:prstGeom>
          </p:spPr>
          <p:txBody>
            <a:bodyPr anchor="ctr" rtlCol="false" tIns="0" lIns="0" bIns="0" rIns="0"/>
            <a:lstStyle/>
            <a:p>
              <a:pPr algn="ctr">
                <a:lnSpc>
                  <a:spcPts val="3499"/>
                </a:lnSpc>
              </a:pPr>
              <a:r>
                <a:rPr lang="en-US" sz="2499" b="true">
                  <a:solidFill>
                    <a:srgbClr val="FEFFFE"/>
                  </a:solidFill>
                  <a:latin typeface="Inter Bold"/>
                  <a:ea typeface="Inter Bold"/>
                  <a:cs typeface="Inter Bold"/>
                  <a:sym typeface="Inter Bold"/>
                </a:rPr>
                <a:t>05</a:t>
              </a:r>
            </a:p>
          </p:txBody>
        </p:sp>
      </p:grpSp>
      <p:sp>
        <p:nvSpPr>
          <p:cNvPr name="TextBox 39" id="39"/>
          <p:cNvSpPr txBox="true"/>
          <p:nvPr/>
        </p:nvSpPr>
        <p:spPr>
          <a:xfrm rot="0">
            <a:off x="10003765" y="4318359"/>
            <a:ext cx="6087142" cy="1198864"/>
          </a:xfrm>
          <a:prstGeom prst="rect">
            <a:avLst/>
          </a:prstGeom>
        </p:spPr>
        <p:txBody>
          <a:bodyPr anchor="t" rtlCol="false" tIns="0" lIns="0" bIns="0" rIns="0">
            <a:spAutoFit/>
          </a:bodyPr>
          <a:lstStyle/>
          <a:p>
            <a:pPr algn="l">
              <a:lnSpc>
                <a:spcPts val="4559"/>
              </a:lnSpc>
            </a:pPr>
            <a:r>
              <a:rPr lang="en-US" b="true" sz="3799" spc="102">
                <a:solidFill>
                  <a:srgbClr val="225686">
                    <a:alpha val="81961"/>
                  </a:srgbClr>
                </a:solidFill>
                <a:latin typeface="Arimo Bold"/>
                <a:ea typeface="Arimo Bold"/>
                <a:cs typeface="Arimo Bold"/>
                <a:sym typeface="Arimo Bold"/>
              </a:rPr>
              <a:t>KẾT LUẬN </a:t>
            </a:r>
          </a:p>
          <a:p>
            <a:pPr algn="l">
              <a:lnSpc>
                <a:spcPts val="4559"/>
              </a:lnSpc>
            </a:pPr>
            <a:r>
              <a:rPr lang="en-US" b="true" sz="3799" spc="105">
                <a:solidFill>
                  <a:srgbClr val="225686">
                    <a:alpha val="81961"/>
                  </a:srgbClr>
                </a:solidFill>
                <a:latin typeface="Arimo Bold"/>
                <a:ea typeface="Arimo Bold"/>
                <a:cs typeface="Arimo Bold"/>
                <a:sym typeface="Arimo Bold"/>
              </a:rPr>
              <a:t>VÀ HƯỚNG PHÁT TRIỂN</a:t>
            </a:r>
          </a:p>
        </p:txBody>
      </p:sp>
      <p:grpSp>
        <p:nvGrpSpPr>
          <p:cNvPr name="Group 40" id="40"/>
          <p:cNvGrpSpPr/>
          <p:nvPr/>
        </p:nvGrpSpPr>
        <p:grpSpPr>
          <a:xfrm rot="0">
            <a:off x="8993524" y="6257344"/>
            <a:ext cx="769953" cy="769953"/>
            <a:chOff x="0" y="0"/>
            <a:chExt cx="1026604" cy="1026604"/>
          </a:xfrm>
        </p:grpSpPr>
        <p:sp>
          <p:nvSpPr>
            <p:cNvPr name="Freeform 41" id="41"/>
            <p:cNvSpPr/>
            <p:nvPr/>
          </p:nvSpPr>
          <p:spPr>
            <a:xfrm flipH="false" flipV="false" rot="0">
              <a:off x="0" y="0"/>
              <a:ext cx="1026668" cy="1026668"/>
            </a:xfrm>
            <a:custGeom>
              <a:avLst/>
              <a:gdLst/>
              <a:ahLst/>
              <a:cxnLst/>
              <a:rect r="r" b="b" t="t" l="l"/>
              <a:pathLst>
                <a:path h="1026668" w="1026668">
                  <a:moveTo>
                    <a:pt x="513334" y="0"/>
                  </a:moveTo>
                  <a:cubicBezTo>
                    <a:pt x="229870" y="0"/>
                    <a:pt x="0" y="229870"/>
                    <a:pt x="0" y="513334"/>
                  </a:cubicBezTo>
                  <a:cubicBezTo>
                    <a:pt x="0" y="796798"/>
                    <a:pt x="229870" y="1026668"/>
                    <a:pt x="513334" y="1026668"/>
                  </a:cubicBezTo>
                  <a:cubicBezTo>
                    <a:pt x="796798" y="1026668"/>
                    <a:pt x="1026668" y="796798"/>
                    <a:pt x="1026668" y="513334"/>
                  </a:cubicBezTo>
                  <a:cubicBezTo>
                    <a:pt x="1026668" y="229870"/>
                    <a:pt x="796798" y="0"/>
                    <a:pt x="513334" y="0"/>
                  </a:cubicBezTo>
                  <a:close/>
                </a:path>
              </a:pathLst>
            </a:custGeom>
            <a:solidFill>
              <a:srgbClr val="2E75B6">
                <a:alpha val="48627"/>
              </a:srgbClr>
            </a:solidFill>
            <a:ln w="12700">
              <a:solidFill>
                <a:srgbClr val="000000"/>
              </a:solidFill>
            </a:ln>
          </p:spPr>
        </p:sp>
      </p:grpSp>
      <p:grpSp>
        <p:nvGrpSpPr>
          <p:cNvPr name="Group 42" id="42"/>
          <p:cNvGrpSpPr/>
          <p:nvPr/>
        </p:nvGrpSpPr>
        <p:grpSpPr>
          <a:xfrm rot="0">
            <a:off x="9065704" y="6284414"/>
            <a:ext cx="625592" cy="670703"/>
            <a:chOff x="0" y="0"/>
            <a:chExt cx="834123" cy="894271"/>
          </a:xfrm>
        </p:grpSpPr>
        <p:sp>
          <p:nvSpPr>
            <p:cNvPr name="Freeform 43" id="43"/>
            <p:cNvSpPr/>
            <p:nvPr/>
          </p:nvSpPr>
          <p:spPr>
            <a:xfrm flipH="false" flipV="false" rot="0">
              <a:off x="0" y="0"/>
              <a:ext cx="834120" cy="894272"/>
            </a:xfrm>
            <a:custGeom>
              <a:avLst/>
              <a:gdLst/>
              <a:ahLst/>
              <a:cxnLst/>
              <a:rect r="r" b="b" t="t" l="l"/>
              <a:pathLst>
                <a:path h="894272" w="834120">
                  <a:moveTo>
                    <a:pt x="0" y="0"/>
                  </a:moveTo>
                  <a:lnTo>
                    <a:pt x="834120" y="0"/>
                  </a:lnTo>
                  <a:lnTo>
                    <a:pt x="834120" y="894272"/>
                  </a:lnTo>
                  <a:lnTo>
                    <a:pt x="0" y="894272"/>
                  </a:lnTo>
                  <a:close/>
                </a:path>
              </a:pathLst>
            </a:custGeom>
            <a:solidFill>
              <a:srgbClr val="000000">
                <a:alpha val="0"/>
              </a:srgbClr>
            </a:solidFill>
            <a:ln w="12700">
              <a:solidFill>
                <a:srgbClr val="000000"/>
              </a:solidFill>
            </a:ln>
          </p:spPr>
        </p:sp>
        <p:sp>
          <p:nvSpPr>
            <p:cNvPr name="TextBox 44" id="44"/>
            <p:cNvSpPr txBox="true"/>
            <p:nvPr/>
          </p:nvSpPr>
          <p:spPr>
            <a:xfrm>
              <a:off x="0" y="-38100"/>
              <a:ext cx="834123" cy="932371"/>
            </a:xfrm>
            <a:prstGeom prst="rect">
              <a:avLst/>
            </a:prstGeom>
          </p:spPr>
          <p:txBody>
            <a:bodyPr anchor="ctr" rtlCol="false" tIns="0" lIns="0" bIns="0" rIns="0"/>
            <a:lstStyle/>
            <a:p>
              <a:pPr algn="ctr">
                <a:lnSpc>
                  <a:spcPts val="3499"/>
                </a:lnSpc>
              </a:pPr>
              <a:r>
                <a:rPr lang="en-US" sz="2499" b="true">
                  <a:solidFill>
                    <a:srgbClr val="FEFFFE"/>
                  </a:solidFill>
                  <a:latin typeface="Inter Bold"/>
                  <a:ea typeface="Inter Bold"/>
                  <a:cs typeface="Inter Bold"/>
                  <a:sym typeface="Inter Bold"/>
                </a:rPr>
                <a:t>06</a:t>
              </a:r>
            </a:p>
          </p:txBody>
        </p:sp>
      </p:grpSp>
      <p:sp>
        <p:nvSpPr>
          <p:cNvPr name="TextBox 45" id="45"/>
          <p:cNvSpPr txBox="true"/>
          <p:nvPr/>
        </p:nvSpPr>
        <p:spPr>
          <a:xfrm rot="0">
            <a:off x="9994240" y="6323238"/>
            <a:ext cx="5818222" cy="569204"/>
          </a:xfrm>
          <a:prstGeom prst="rect">
            <a:avLst/>
          </a:prstGeom>
        </p:spPr>
        <p:txBody>
          <a:bodyPr anchor="t" rtlCol="false" tIns="0" lIns="0" bIns="0" rIns="0">
            <a:spAutoFit/>
          </a:bodyPr>
          <a:lstStyle/>
          <a:p>
            <a:pPr algn="l">
              <a:lnSpc>
                <a:spcPts val="4559"/>
              </a:lnSpc>
            </a:pPr>
            <a:r>
              <a:rPr lang="en-US" b="true" sz="3799" spc="105">
                <a:solidFill>
                  <a:srgbClr val="225686">
                    <a:alpha val="81961"/>
                  </a:srgbClr>
                </a:solidFill>
                <a:latin typeface="Arimo Bold"/>
                <a:ea typeface="Arimo Bold"/>
                <a:cs typeface="Arimo Bold"/>
                <a:sym typeface="Arimo Bold"/>
              </a:rPr>
              <a:t>DEMO</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4" id="4"/>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5" id="5"/>
          <p:cNvSpPr txBox="true"/>
          <p:nvPr/>
        </p:nvSpPr>
        <p:spPr>
          <a:xfrm rot="0">
            <a:off x="17259300" y="9350588"/>
            <a:ext cx="245945" cy="42862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a:t>
            </a:r>
          </a:p>
        </p:txBody>
      </p:sp>
      <p:sp>
        <p:nvSpPr>
          <p:cNvPr name="TextBox 6" id="6"/>
          <p:cNvSpPr txBox="true"/>
          <p:nvPr/>
        </p:nvSpPr>
        <p:spPr>
          <a:xfrm rot="0">
            <a:off x="4937589" y="4749251"/>
            <a:ext cx="7615819" cy="778964"/>
          </a:xfrm>
          <a:prstGeom prst="rect">
            <a:avLst/>
          </a:prstGeom>
        </p:spPr>
        <p:txBody>
          <a:bodyPr anchor="t" rtlCol="false" tIns="0" lIns="0" bIns="0" rIns="0">
            <a:spAutoFit/>
          </a:bodyPr>
          <a:lstStyle/>
          <a:p>
            <a:pPr algn="ctr">
              <a:lnSpc>
                <a:spcPts val="6000"/>
              </a:lnSpc>
            </a:pPr>
            <a:r>
              <a:rPr lang="en-US" b="true" sz="4999" spc="138">
                <a:solidFill>
                  <a:srgbClr val="225686">
                    <a:alpha val="81961"/>
                  </a:srgbClr>
                </a:solidFill>
                <a:latin typeface="Open Sans Bold"/>
                <a:ea typeface="Open Sans Bold"/>
                <a:cs typeface="Open Sans Bold"/>
                <a:sym typeface="Open Sans Bold"/>
              </a:rPr>
              <a:t>1. LÝ DO CHỌN ĐỀ TÀI</a:t>
            </a:r>
          </a:p>
        </p:txBody>
      </p:sp>
      <p:grpSp>
        <p:nvGrpSpPr>
          <p:cNvPr name="Group 7" id="7"/>
          <p:cNvGrpSpPr/>
          <p:nvPr/>
        </p:nvGrpSpPr>
        <p:grpSpPr>
          <a:xfrm rot="0">
            <a:off x="1019185" y="1014412"/>
            <a:ext cx="14681892" cy="23812"/>
            <a:chOff x="0" y="0"/>
            <a:chExt cx="19575856" cy="31750"/>
          </a:xfrm>
        </p:grpSpPr>
        <p:sp>
          <p:nvSpPr>
            <p:cNvPr name="Freeform 8" id="8"/>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9" id="9" descr="tvu"/>
          <p:cNvSpPr/>
          <p:nvPr/>
        </p:nvSpPr>
        <p:spPr>
          <a:xfrm flipH="false" flipV="false" rot="0">
            <a:off x="16695420" y="706269"/>
            <a:ext cx="804053" cy="793785"/>
          </a:xfrm>
          <a:custGeom>
            <a:avLst/>
            <a:gdLst/>
            <a:ahLst/>
            <a:cxnLst/>
            <a:rect r="r" b="b" t="t" l="l"/>
            <a:pathLst>
              <a:path h="793785" w="804053">
                <a:moveTo>
                  <a:pt x="0" y="0"/>
                </a:moveTo>
                <a:lnTo>
                  <a:pt x="804053" y="0"/>
                </a:lnTo>
                <a:lnTo>
                  <a:pt x="804053" y="793785"/>
                </a:lnTo>
                <a:lnTo>
                  <a:pt x="0" y="793785"/>
                </a:lnTo>
                <a:lnTo>
                  <a:pt x="0" y="0"/>
                </a:lnTo>
                <a:close/>
              </a:path>
            </a:pathLst>
          </a:custGeom>
          <a:blipFill>
            <a:blip r:embed="rId2"/>
            <a:stretch>
              <a:fillRect l="-34915" t="-35319" r="-34256" b="-36041"/>
            </a:stretch>
          </a:blipFill>
        </p:spPr>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sp>
        <p:nvSpPr>
          <p:cNvPr name="TextBox 4" id="4"/>
          <p:cNvSpPr txBox="true"/>
          <p:nvPr/>
        </p:nvSpPr>
        <p:spPr>
          <a:xfrm rot="0">
            <a:off x="1041749" y="669046"/>
            <a:ext cx="3914013" cy="42862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1. Lý do chọn đề tài</a:t>
            </a:r>
          </a:p>
        </p:txBody>
      </p:sp>
      <p:sp>
        <p:nvSpPr>
          <p:cNvPr name="TextBox 5" id="5"/>
          <p:cNvSpPr txBox="true"/>
          <p:nvPr/>
        </p:nvSpPr>
        <p:spPr>
          <a:xfrm rot="0">
            <a:off x="1041749" y="1059571"/>
            <a:ext cx="5568182" cy="42862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Tóm tắt nội dung</a:t>
            </a:r>
          </a:p>
        </p:txBody>
      </p:sp>
      <p:grpSp>
        <p:nvGrpSpPr>
          <p:cNvPr name="Group 6" id="6"/>
          <p:cNvGrpSpPr/>
          <p:nvPr/>
        </p:nvGrpSpPr>
        <p:grpSpPr>
          <a:xfrm rot="0">
            <a:off x="696649" y="9248775"/>
            <a:ext cx="16891302" cy="19050"/>
            <a:chOff x="0" y="0"/>
            <a:chExt cx="22521736" cy="25400"/>
          </a:xfrm>
        </p:grpSpPr>
        <p:sp>
          <p:nvSpPr>
            <p:cNvPr name="Freeform 7" id="7"/>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8" id="8"/>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9" id="9"/>
          <p:cNvSpPr txBox="true"/>
          <p:nvPr/>
        </p:nvSpPr>
        <p:spPr>
          <a:xfrm rot="0">
            <a:off x="17259300" y="9350588"/>
            <a:ext cx="245945" cy="42862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3</a:t>
            </a:r>
          </a:p>
        </p:txBody>
      </p:sp>
      <p:sp>
        <p:nvSpPr>
          <p:cNvPr name="TextBox 10" id="10"/>
          <p:cNvSpPr txBox="true"/>
          <p:nvPr/>
        </p:nvSpPr>
        <p:spPr>
          <a:xfrm rot="0">
            <a:off x="1028700" y="2431062"/>
            <a:ext cx="16230600" cy="1471905"/>
          </a:xfrm>
          <a:prstGeom prst="rect">
            <a:avLst/>
          </a:prstGeom>
        </p:spPr>
        <p:txBody>
          <a:bodyPr anchor="t" rtlCol="false" tIns="0" lIns="0" bIns="0" rIns="0">
            <a:spAutoFit/>
          </a:bodyPr>
          <a:lstStyle/>
          <a:p>
            <a:pPr algn="just">
              <a:lnSpc>
                <a:spcPts val="3919"/>
              </a:lnSpc>
            </a:pPr>
            <a:r>
              <a:rPr lang="en-US" sz="2799" i="true">
                <a:solidFill>
                  <a:srgbClr val="000000"/>
                </a:solidFill>
                <a:latin typeface="Inter Italics"/>
                <a:ea typeface="Inter Italics"/>
                <a:cs typeface="Inter Italics"/>
                <a:sym typeface="Inter Italics"/>
              </a:rPr>
              <a:t>  Cuộc cách mạng công nghiệp 4.0 thúc đẩy mạnh mẽ nhu cầu</a:t>
            </a:r>
            <a:r>
              <a:rPr lang="en-US" b="true" sz="2799" i="true">
                <a:solidFill>
                  <a:srgbClr val="000000"/>
                </a:solidFill>
                <a:latin typeface="Inter Bold Italics"/>
                <a:ea typeface="Inter Bold Italics"/>
                <a:cs typeface="Inter Bold Italics"/>
                <a:sym typeface="Inter Bold Italics"/>
              </a:rPr>
              <a:t> </a:t>
            </a:r>
            <a:r>
              <a:rPr lang="en-US" b="true" sz="2799" i="true">
                <a:solidFill>
                  <a:srgbClr val="225686"/>
                </a:solidFill>
                <a:latin typeface="Inter Bold Italics"/>
                <a:ea typeface="Inter Bold Italics"/>
                <a:cs typeface="Inter Bold Italics"/>
                <a:sym typeface="Inter Bold Italics"/>
              </a:rPr>
              <a:t>nhân lực công nghệ thông tin</a:t>
            </a:r>
            <a:r>
              <a:rPr lang="en-US" sz="2799" i="true">
                <a:solidFill>
                  <a:srgbClr val="000000"/>
                </a:solidFill>
                <a:latin typeface="Inter Italics"/>
                <a:ea typeface="Inter Italics"/>
                <a:cs typeface="Inter Italics"/>
                <a:sym typeface="Inter Italics"/>
              </a:rPr>
              <a:t>, đặc biệt là </a:t>
            </a:r>
            <a:r>
              <a:rPr lang="en-US" b="true" sz="2799" i="true">
                <a:solidFill>
                  <a:srgbClr val="225686"/>
                </a:solidFill>
                <a:latin typeface="Inter Bold Italics"/>
                <a:ea typeface="Inter Bold Italics"/>
                <a:cs typeface="Inter Bold Italics"/>
                <a:sym typeface="Inter Bold Italics"/>
              </a:rPr>
              <a:t>lập trình web</a:t>
            </a:r>
            <a:r>
              <a:rPr lang="en-US" sz="2799" i="true">
                <a:solidFill>
                  <a:srgbClr val="000000"/>
                </a:solidFill>
                <a:latin typeface="Inter Italics"/>
                <a:ea typeface="Inter Italics"/>
                <a:cs typeface="Inter Italics"/>
                <a:sym typeface="Inter Italics"/>
              </a:rPr>
              <a:t>.</a:t>
            </a:r>
          </a:p>
          <a:p>
            <a:pPr algn="just">
              <a:lnSpc>
                <a:spcPts val="3920"/>
              </a:lnSpc>
            </a:pPr>
          </a:p>
        </p:txBody>
      </p:sp>
      <p:sp>
        <p:nvSpPr>
          <p:cNvPr name="TextBox 11" id="11"/>
          <p:cNvSpPr txBox="true"/>
          <p:nvPr/>
        </p:nvSpPr>
        <p:spPr>
          <a:xfrm rot="0">
            <a:off x="1041749" y="3652908"/>
            <a:ext cx="16230600" cy="1471905"/>
          </a:xfrm>
          <a:prstGeom prst="rect">
            <a:avLst/>
          </a:prstGeom>
        </p:spPr>
        <p:txBody>
          <a:bodyPr anchor="t" rtlCol="false" tIns="0" lIns="0" bIns="0" rIns="0">
            <a:spAutoFit/>
          </a:bodyPr>
          <a:lstStyle/>
          <a:p>
            <a:pPr algn="just">
              <a:lnSpc>
                <a:spcPts val="3919"/>
              </a:lnSpc>
            </a:pPr>
            <a:r>
              <a:rPr lang="en-US" sz="2799" i="true">
                <a:solidFill>
                  <a:srgbClr val="000000"/>
                </a:solidFill>
                <a:latin typeface="Inter Italics"/>
                <a:ea typeface="Inter Italics"/>
                <a:cs typeface="Inter Italics"/>
                <a:sym typeface="Inter Italics"/>
              </a:rPr>
              <a:t>  </a:t>
            </a:r>
            <a:r>
              <a:rPr lang="en-US" b="true" sz="2799" i="true">
                <a:solidFill>
                  <a:srgbClr val="225686"/>
                </a:solidFill>
                <a:latin typeface="Inter Bold Italics"/>
                <a:ea typeface="Inter Bold Italics"/>
                <a:cs typeface="Inter Bold Italics"/>
                <a:sym typeface="Inter Bold Italics"/>
              </a:rPr>
              <a:t>Học trực tuyến (E-learning)</a:t>
            </a:r>
            <a:r>
              <a:rPr lang="en-US" sz="2799" i="true">
                <a:solidFill>
                  <a:srgbClr val="000000"/>
                </a:solidFill>
                <a:latin typeface="Inter Italics"/>
                <a:ea typeface="Inter Italics"/>
                <a:cs typeface="Inter Italics"/>
                <a:sym typeface="Inter Italics"/>
              </a:rPr>
              <a:t> trở thành xu hướng tất yếu nhờ tính linh hoạt, tiết kiệm chi phí và khả năng tiếp cận tri thức rộng rãi.</a:t>
            </a:r>
          </a:p>
          <a:p>
            <a:pPr algn="just">
              <a:lnSpc>
                <a:spcPts val="3920"/>
              </a:lnSpc>
            </a:pPr>
          </a:p>
        </p:txBody>
      </p:sp>
      <p:sp>
        <p:nvSpPr>
          <p:cNvPr name="TextBox 12" id="12"/>
          <p:cNvSpPr txBox="true"/>
          <p:nvPr/>
        </p:nvSpPr>
        <p:spPr>
          <a:xfrm rot="0">
            <a:off x="1027000" y="4951620"/>
            <a:ext cx="16230600" cy="1471905"/>
          </a:xfrm>
          <a:prstGeom prst="rect">
            <a:avLst/>
          </a:prstGeom>
        </p:spPr>
        <p:txBody>
          <a:bodyPr anchor="t" rtlCol="false" tIns="0" lIns="0" bIns="0" rIns="0">
            <a:spAutoFit/>
          </a:bodyPr>
          <a:lstStyle/>
          <a:p>
            <a:pPr algn="just">
              <a:lnSpc>
                <a:spcPts val="3919"/>
              </a:lnSpc>
            </a:pPr>
            <a:r>
              <a:rPr lang="en-US" sz="2799" i="true">
                <a:solidFill>
                  <a:srgbClr val="000000"/>
                </a:solidFill>
                <a:latin typeface="Inter Italics"/>
                <a:ea typeface="Inter Italics"/>
                <a:cs typeface="Inter Italics"/>
                <a:sym typeface="Inter Italics"/>
              </a:rPr>
              <a:t>  Nhiều hệ thống E-learning hiện nay còn hạn chế trong </a:t>
            </a:r>
            <a:r>
              <a:rPr lang="en-US" b="true" sz="2799" i="true">
                <a:solidFill>
                  <a:srgbClr val="225686"/>
                </a:solidFill>
                <a:latin typeface="Inter Bold Italics"/>
                <a:ea typeface="Inter Bold Italics"/>
                <a:cs typeface="Inter Bold Italics"/>
                <a:sym typeface="Inter Bold Italics"/>
              </a:rPr>
              <a:t>quản lý khóa học, theo dõi tiến độ học tập và thanh toán trực tuyến.</a:t>
            </a:r>
          </a:p>
          <a:p>
            <a:pPr algn="just">
              <a:lnSpc>
                <a:spcPts val="3920"/>
              </a:lnSpc>
            </a:pPr>
          </a:p>
        </p:txBody>
      </p:sp>
      <p:sp>
        <p:nvSpPr>
          <p:cNvPr name="TextBox 13" id="13"/>
          <p:cNvSpPr txBox="true"/>
          <p:nvPr/>
        </p:nvSpPr>
        <p:spPr>
          <a:xfrm rot="0">
            <a:off x="1027000" y="6258343"/>
            <a:ext cx="16230600" cy="1471905"/>
          </a:xfrm>
          <a:prstGeom prst="rect">
            <a:avLst/>
          </a:prstGeom>
        </p:spPr>
        <p:txBody>
          <a:bodyPr anchor="t" rtlCol="false" tIns="0" lIns="0" bIns="0" rIns="0">
            <a:spAutoFit/>
          </a:bodyPr>
          <a:lstStyle/>
          <a:p>
            <a:pPr algn="just">
              <a:lnSpc>
                <a:spcPts val="3919"/>
              </a:lnSpc>
            </a:pPr>
            <a:r>
              <a:rPr lang="en-US" sz="2799" i="true">
                <a:solidFill>
                  <a:srgbClr val="000000"/>
                </a:solidFill>
                <a:latin typeface="Inter Italics"/>
                <a:ea typeface="Inter Italics"/>
                <a:cs typeface="Inter Italics"/>
                <a:sym typeface="Inter Italics"/>
              </a:rPr>
              <a:t>  Ứng dụng </a:t>
            </a:r>
            <a:r>
              <a:rPr lang="en-US" b="true" sz="2799" i="true">
                <a:solidFill>
                  <a:srgbClr val="225686"/>
                </a:solidFill>
                <a:latin typeface="Inter Bold Italics"/>
                <a:ea typeface="Inter Bold Italics"/>
                <a:cs typeface="Inter Bold Italics"/>
                <a:sym typeface="Inter Bold Italics"/>
              </a:rPr>
              <a:t>Laravel framework</a:t>
            </a:r>
            <a:r>
              <a:rPr lang="en-US" sz="2799" i="true">
                <a:solidFill>
                  <a:srgbClr val="000000"/>
                </a:solidFill>
                <a:latin typeface="Inter Italics"/>
                <a:ea typeface="Inter Italics"/>
                <a:cs typeface="Inter Italics"/>
                <a:sym typeface="Inter Italics"/>
              </a:rPr>
              <a:t> giúp hệ thống đảm bảo </a:t>
            </a:r>
            <a:r>
              <a:rPr lang="en-US" b="true" sz="2799" i="true">
                <a:solidFill>
                  <a:srgbClr val="225686"/>
                </a:solidFill>
                <a:latin typeface="Inter Bold Italics"/>
                <a:ea typeface="Inter Bold Italics"/>
                <a:cs typeface="Inter Bold Italics"/>
                <a:sym typeface="Inter Bold Italics"/>
              </a:rPr>
              <a:t>bảo mật, khả năng mở rộng</a:t>
            </a:r>
            <a:r>
              <a:rPr lang="en-US" sz="2799" i="true">
                <a:solidFill>
                  <a:srgbClr val="000000"/>
                </a:solidFill>
                <a:latin typeface="Inter Italics"/>
                <a:ea typeface="Inter Italics"/>
                <a:cs typeface="Inter Italics"/>
                <a:sym typeface="Inter Italics"/>
              </a:rPr>
              <a:t> và tuân thủ kiến trúc phần mềm hiện đại.</a:t>
            </a:r>
          </a:p>
          <a:p>
            <a:pPr algn="just">
              <a:lnSpc>
                <a:spcPts val="39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4" id="4"/>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5" id="5"/>
          <p:cNvSpPr txBox="true"/>
          <p:nvPr/>
        </p:nvSpPr>
        <p:spPr>
          <a:xfrm rot="0">
            <a:off x="17259300" y="9350588"/>
            <a:ext cx="19288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4</a:t>
            </a:r>
          </a:p>
        </p:txBody>
      </p:sp>
      <p:sp>
        <p:nvSpPr>
          <p:cNvPr name="TextBox 6" id="6"/>
          <p:cNvSpPr txBox="true"/>
          <p:nvPr/>
        </p:nvSpPr>
        <p:spPr>
          <a:xfrm rot="0">
            <a:off x="3265541" y="4749251"/>
            <a:ext cx="11326759" cy="778964"/>
          </a:xfrm>
          <a:prstGeom prst="rect">
            <a:avLst/>
          </a:prstGeom>
        </p:spPr>
        <p:txBody>
          <a:bodyPr anchor="t" rtlCol="false" tIns="0" lIns="0" bIns="0" rIns="0">
            <a:spAutoFit/>
          </a:bodyPr>
          <a:lstStyle/>
          <a:p>
            <a:pPr algn="ctr">
              <a:lnSpc>
                <a:spcPts val="6000"/>
              </a:lnSpc>
            </a:pPr>
            <a:r>
              <a:rPr lang="en-US" b="true" sz="4999" spc="138">
                <a:solidFill>
                  <a:srgbClr val="225686">
                    <a:alpha val="81961"/>
                  </a:srgbClr>
                </a:solidFill>
                <a:latin typeface="Open Sans Bold"/>
                <a:ea typeface="Open Sans Bold"/>
                <a:cs typeface="Open Sans Bold"/>
                <a:sym typeface="Open Sans Bold"/>
              </a:rPr>
              <a:t>2. CƠ SỞ LÝ THUYẾT</a:t>
            </a:r>
          </a:p>
        </p:txBody>
      </p:sp>
      <p:grpSp>
        <p:nvGrpSpPr>
          <p:cNvPr name="Group 7" id="7"/>
          <p:cNvGrpSpPr/>
          <p:nvPr/>
        </p:nvGrpSpPr>
        <p:grpSpPr>
          <a:xfrm rot="0">
            <a:off x="1019185" y="1014412"/>
            <a:ext cx="14681892" cy="23812"/>
            <a:chOff x="0" y="0"/>
            <a:chExt cx="19575856" cy="31750"/>
          </a:xfrm>
        </p:grpSpPr>
        <p:sp>
          <p:nvSpPr>
            <p:cNvPr name="Freeform 8" id="8"/>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9" id="9" descr="tvu"/>
          <p:cNvSpPr/>
          <p:nvPr/>
        </p:nvSpPr>
        <p:spPr>
          <a:xfrm flipH="false" flipV="false" rot="0">
            <a:off x="16695420" y="706269"/>
            <a:ext cx="804053" cy="793785"/>
          </a:xfrm>
          <a:custGeom>
            <a:avLst/>
            <a:gdLst/>
            <a:ahLst/>
            <a:cxnLst/>
            <a:rect r="r" b="b" t="t" l="l"/>
            <a:pathLst>
              <a:path h="793785" w="804053">
                <a:moveTo>
                  <a:pt x="0" y="0"/>
                </a:moveTo>
                <a:lnTo>
                  <a:pt x="804053" y="0"/>
                </a:lnTo>
                <a:lnTo>
                  <a:pt x="804053" y="793785"/>
                </a:lnTo>
                <a:lnTo>
                  <a:pt x="0" y="793785"/>
                </a:lnTo>
                <a:lnTo>
                  <a:pt x="0" y="0"/>
                </a:lnTo>
                <a:close/>
              </a:path>
            </a:pathLst>
          </a:custGeom>
          <a:blipFill>
            <a:blip r:embed="rId2"/>
            <a:stretch>
              <a:fillRect l="-34915" t="-35319" r="-34256" b="-36041"/>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10871108" y="3079330"/>
            <a:ext cx="6581073" cy="3553779"/>
          </a:xfrm>
          <a:custGeom>
            <a:avLst/>
            <a:gdLst/>
            <a:ahLst/>
            <a:cxnLst/>
            <a:rect r="r" b="b" t="t" l="l"/>
            <a:pathLst>
              <a:path h="3553779" w="6581073">
                <a:moveTo>
                  <a:pt x="0" y="0"/>
                </a:moveTo>
                <a:lnTo>
                  <a:pt x="6581073" y="0"/>
                </a:lnTo>
                <a:lnTo>
                  <a:pt x="6581073" y="3553780"/>
                </a:lnTo>
                <a:lnTo>
                  <a:pt x="0" y="3553780"/>
                </a:lnTo>
                <a:lnTo>
                  <a:pt x="0" y="0"/>
                </a:lnTo>
                <a:close/>
              </a:path>
            </a:pathLst>
          </a:custGeom>
          <a:blipFill>
            <a:blip r:embed="rId3"/>
            <a:stretch>
              <a:fillRect l="0" t="0" r="0" b="0"/>
            </a:stretch>
          </a:blipFill>
        </p:spPr>
      </p:sp>
      <p:sp>
        <p:nvSpPr>
          <p:cNvPr name="TextBox 7" id="7"/>
          <p:cNvSpPr txBox="true"/>
          <p:nvPr/>
        </p:nvSpPr>
        <p:spPr>
          <a:xfrm rot="0">
            <a:off x="1041749" y="669046"/>
            <a:ext cx="27472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2. Cơ sở lý thuyết</a:t>
            </a:r>
          </a:p>
        </p:txBody>
      </p:sp>
      <p:sp>
        <p:nvSpPr>
          <p:cNvPr name="TextBox 8" id="8"/>
          <p:cNvSpPr txBox="true"/>
          <p:nvPr/>
        </p:nvSpPr>
        <p:spPr>
          <a:xfrm rot="0">
            <a:off x="1041749" y="1059571"/>
            <a:ext cx="404410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Ngôn ngữ lập trình PHP </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259300" y="9350588"/>
            <a:ext cx="19288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5</a:t>
            </a:r>
          </a:p>
        </p:txBody>
      </p:sp>
      <p:sp>
        <p:nvSpPr>
          <p:cNvPr name="TextBox 11" id="11"/>
          <p:cNvSpPr txBox="true"/>
          <p:nvPr/>
        </p:nvSpPr>
        <p:spPr>
          <a:xfrm rot="0">
            <a:off x="820474" y="2593925"/>
            <a:ext cx="9033060" cy="976579"/>
          </a:xfrm>
          <a:prstGeom prst="rect">
            <a:avLst/>
          </a:prstGeom>
        </p:spPr>
        <p:txBody>
          <a:bodyPr anchor="t" rtlCol="false" tIns="0" lIns="0" bIns="0" rIns="0">
            <a:spAutoFit/>
          </a:bodyPr>
          <a:lstStyle/>
          <a:p>
            <a:pPr algn="just">
              <a:lnSpc>
                <a:spcPts val="3920"/>
              </a:lnSpc>
            </a:pPr>
            <a:r>
              <a:rPr lang="en-US" sz="2799" b="true">
                <a:solidFill>
                  <a:srgbClr val="000000"/>
                </a:solidFill>
                <a:latin typeface="Inter Bold"/>
                <a:ea typeface="Inter Bold"/>
                <a:cs typeface="Inter Bold"/>
                <a:sym typeface="Inter Bold"/>
              </a:rPr>
              <a:t>PHP</a:t>
            </a:r>
            <a:r>
              <a:rPr lang="en-US" sz="2799">
                <a:solidFill>
                  <a:srgbClr val="000000"/>
                </a:solidFill>
                <a:latin typeface="Inter"/>
                <a:ea typeface="Inter"/>
                <a:cs typeface="Inter"/>
                <a:sym typeface="Inter"/>
              </a:rPr>
              <a:t> (Personal Home Page – Hypertext Preprocessor) là ngôn ngữ lập trình kịch bản phía máy chủ.</a:t>
            </a:r>
          </a:p>
        </p:txBody>
      </p:sp>
      <p:sp>
        <p:nvSpPr>
          <p:cNvPr name="TextBox 12" id="12"/>
          <p:cNvSpPr txBox="true"/>
          <p:nvPr/>
        </p:nvSpPr>
        <p:spPr>
          <a:xfrm rot="0">
            <a:off x="820474" y="3787288"/>
            <a:ext cx="9033060" cy="14719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PHP được sử dụng chủ yếu để phát triển các ứng dụng và website động.</a:t>
            </a:r>
          </a:p>
          <a:p>
            <a:pPr algn="just">
              <a:lnSpc>
                <a:spcPts val="3919"/>
              </a:lnSpc>
            </a:pPr>
          </a:p>
        </p:txBody>
      </p:sp>
      <p:sp>
        <p:nvSpPr>
          <p:cNvPr name="TextBox 13" id="13"/>
          <p:cNvSpPr txBox="true"/>
          <p:nvPr/>
        </p:nvSpPr>
        <p:spPr>
          <a:xfrm rot="0">
            <a:off x="820474" y="5075455"/>
            <a:ext cx="9033060" cy="14719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Mã lệnh PHP được xử lý trên server, sau đó sinh ra mã HTML gửi về trình duyệt người dùng.</a:t>
            </a:r>
          </a:p>
          <a:p>
            <a:pPr algn="just">
              <a:lnSpc>
                <a:spcPts val="3919"/>
              </a:lnSpc>
            </a:pPr>
          </a:p>
        </p:txBody>
      </p:sp>
      <p:sp>
        <p:nvSpPr>
          <p:cNvPr name="TextBox 14" id="14"/>
          <p:cNvSpPr txBox="true"/>
          <p:nvPr/>
        </p:nvSpPr>
        <p:spPr>
          <a:xfrm rot="0">
            <a:off x="820474" y="6299640"/>
            <a:ext cx="9033060" cy="14719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PHP thường được kết hợp với CSDL để xây dựng các hệ thống web có tính tương tác cao.</a:t>
            </a:r>
          </a:p>
          <a:p>
            <a:pPr algn="just">
              <a:lnSpc>
                <a:spcPts val="391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9652127" y="3699488"/>
            <a:ext cx="7683373" cy="2228178"/>
          </a:xfrm>
          <a:custGeom>
            <a:avLst/>
            <a:gdLst/>
            <a:ahLst/>
            <a:cxnLst/>
            <a:rect r="r" b="b" t="t" l="l"/>
            <a:pathLst>
              <a:path h="2228178" w="7683373">
                <a:moveTo>
                  <a:pt x="0" y="0"/>
                </a:moveTo>
                <a:lnTo>
                  <a:pt x="7683373" y="0"/>
                </a:lnTo>
                <a:lnTo>
                  <a:pt x="7683373" y="2228178"/>
                </a:lnTo>
                <a:lnTo>
                  <a:pt x="0" y="2228178"/>
                </a:lnTo>
                <a:lnTo>
                  <a:pt x="0" y="0"/>
                </a:lnTo>
                <a:close/>
              </a:path>
            </a:pathLst>
          </a:custGeom>
          <a:blipFill>
            <a:blip r:embed="rId3"/>
            <a:stretch>
              <a:fillRect l="0" t="0" r="0" b="0"/>
            </a:stretch>
          </a:blipFill>
        </p:spPr>
      </p:sp>
      <p:sp>
        <p:nvSpPr>
          <p:cNvPr name="TextBox 7" id="7"/>
          <p:cNvSpPr txBox="true"/>
          <p:nvPr/>
        </p:nvSpPr>
        <p:spPr>
          <a:xfrm rot="0">
            <a:off x="1041749" y="669046"/>
            <a:ext cx="274736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2</a:t>
            </a:r>
            <a:r>
              <a:rPr lang="en-US" sz="2600" i="true" spc="72">
                <a:solidFill>
                  <a:srgbClr val="225686"/>
                </a:solidFill>
                <a:latin typeface="Arimo Italics"/>
                <a:ea typeface="Arimo Italics"/>
                <a:cs typeface="Arimo Italics"/>
                <a:sym typeface="Arimo Italics"/>
              </a:rPr>
              <a:t>. Cơ sở lý thuyết</a:t>
            </a:r>
          </a:p>
        </p:txBody>
      </p:sp>
      <p:sp>
        <p:nvSpPr>
          <p:cNvPr name="TextBox 8" id="8"/>
          <p:cNvSpPr txBox="true"/>
          <p:nvPr/>
        </p:nvSpPr>
        <p:spPr>
          <a:xfrm rot="0">
            <a:off x="1041749" y="1059571"/>
            <a:ext cx="3073301"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Laravel framework</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259300" y="9350588"/>
            <a:ext cx="19288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6</a:t>
            </a:r>
          </a:p>
        </p:txBody>
      </p:sp>
      <p:sp>
        <p:nvSpPr>
          <p:cNvPr name="TextBox 11" id="11"/>
          <p:cNvSpPr txBox="true"/>
          <p:nvPr/>
        </p:nvSpPr>
        <p:spPr>
          <a:xfrm rot="0">
            <a:off x="763893" y="2398524"/>
            <a:ext cx="7741229" cy="1471930"/>
          </a:xfrm>
          <a:prstGeom prst="rect">
            <a:avLst/>
          </a:prstGeom>
        </p:spPr>
        <p:txBody>
          <a:bodyPr anchor="t" rtlCol="false" tIns="0" lIns="0" bIns="0" rIns="0">
            <a:spAutoFit/>
          </a:bodyPr>
          <a:lstStyle/>
          <a:p>
            <a:pPr algn="just">
              <a:lnSpc>
                <a:spcPts val="3919"/>
              </a:lnSpc>
            </a:pPr>
            <a:r>
              <a:rPr lang="en-US" sz="2799" b="true">
                <a:solidFill>
                  <a:srgbClr val="000000"/>
                </a:solidFill>
                <a:latin typeface="Inter Bold"/>
                <a:ea typeface="Inter Bold"/>
                <a:cs typeface="Inter Bold"/>
                <a:sym typeface="Inter Bold"/>
              </a:rPr>
              <a:t>Laravel </a:t>
            </a:r>
            <a:r>
              <a:rPr lang="en-US" sz="2799">
                <a:solidFill>
                  <a:srgbClr val="000000"/>
                </a:solidFill>
                <a:latin typeface="Inter"/>
                <a:ea typeface="Inter"/>
                <a:cs typeface="Inter"/>
                <a:sym typeface="Inter"/>
              </a:rPr>
              <a:t>là một PHP framework mã nguồn mở và miễn phí, được phát triển bởi Taylor Otwell.</a:t>
            </a:r>
          </a:p>
          <a:p>
            <a:pPr algn="just">
              <a:lnSpc>
                <a:spcPts val="3919"/>
              </a:lnSpc>
            </a:pPr>
          </a:p>
        </p:txBody>
      </p:sp>
      <p:sp>
        <p:nvSpPr>
          <p:cNvPr name="TextBox 12" id="12"/>
          <p:cNvSpPr txBox="true"/>
          <p:nvPr/>
        </p:nvSpPr>
        <p:spPr>
          <a:xfrm rot="0">
            <a:off x="734749" y="3642338"/>
            <a:ext cx="7741229" cy="14719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Hỗ trợ xây dựng ứng dụng web theo kiến trúc Model – View – Controller (MVC).</a:t>
            </a:r>
          </a:p>
          <a:p>
            <a:pPr algn="just">
              <a:lnSpc>
                <a:spcPts val="3919"/>
              </a:lnSpc>
            </a:pPr>
          </a:p>
        </p:txBody>
      </p:sp>
      <p:sp>
        <p:nvSpPr>
          <p:cNvPr name="TextBox 13" id="13"/>
          <p:cNvSpPr txBox="true"/>
          <p:nvPr/>
        </p:nvSpPr>
        <p:spPr>
          <a:xfrm rot="0">
            <a:off x="763893" y="4908679"/>
            <a:ext cx="7741229" cy="14719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Cú pháp đơn giản, dễ hiểu, giúp tăng hiệu suất phát triển.</a:t>
            </a:r>
          </a:p>
          <a:p>
            <a:pPr algn="just">
              <a:lnSpc>
                <a:spcPts val="3919"/>
              </a:lnSpc>
            </a:pPr>
          </a:p>
        </p:txBody>
      </p:sp>
      <p:sp>
        <p:nvSpPr>
          <p:cNvPr name="TextBox 14" id="14"/>
          <p:cNvSpPr txBox="true"/>
          <p:nvPr/>
        </p:nvSpPr>
        <p:spPr>
          <a:xfrm rot="0">
            <a:off x="822180" y="6209292"/>
            <a:ext cx="7741229" cy="19672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Hỗ trợ làm việc với cơ sở dữ liệu linh hoạt, cùng nhiều tiện ích cho triển khai và bảo trì ứng dụng.</a:t>
            </a:r>
          </a:p>
          <a:p>
            <a:pPr algn="just">
              <a:lnSpc>
                <a:spcPts val="391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10642224" y="2058385"/>
            <a:ext cx="5652482" cy="5652482"/>
          </a:xfrm>
          <a:custGeom>
            <a:avLst/>
            <a:gdLst/>
            <a:ahLst/>
            <a:cxnLst/>
            <a:rect r="r" b="b" t="t" l="l"/>
            <a:pathLst>
              <a:path h="5652482" w="5652482">
                <a:moveTo>
                  <a:pt x="0" y="0"/>
                </a:moveTo>
                <a:lnTo>
                  <a:pt x="5652482" y="0"/>
                </a:lnTo>
                <a:lnTo>
                  <a:pt x="5652482" y="5652482"/>
                </a:lnTo>
                <a:lnTo>
                  <a:pt x="0" y="5652482"/>
                </a:lnTo>
                <a:lnTo>
                  <a:pt x="0" y="0"/>
                </a:lnTo>
                <a:close/>
              </a:path>
            </a:pathLst>
          </a:custGeom>
          <a:blipFill>
            <a:blip r:embed="rId3"/>
            <a:stretch>
              <a:fillRect l="0" t="0" r="0" b="0"/>
            </a:stretch>
          </a:blipFill>
        </p:spPr>
      </p:sp>
      <p:sp>
        <p:nvSpPr>
          <p:cNvPr name="TextBox 7" id="7"/>
          <p:cNvSpPr txBox="true"/>
          <p:nvPr/>
        </p:nvSpPr>
        <p:spPr>
          <a:xfrm rot="0">
            <a:off x="1041749" y="669046"/>
            <a:ext cx="274736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2</a:t>
            </a:r>
            <a:r>
              <a:rPr lang="en-US" sz="2600" i="true" spc="72">
                <a:solidFill>
                  <a:srgbClr val="225686"/>
                </a:solidFill>
                <a:latin typeface="Arimo Italics"/>
                <a:ea typeface="Arimo Italics"/>
                <a:cs typeface="Arimo Italics"/>
                <a:sym typeface="Arimo Italics"/>
              </a:rPr>
              <a:t>. Cơ sở lý thuyết</a:t>
            </a:r>
          </a:p>
        </p:txBody>
      </p:sp>
      <p:sp>
        <p:nvSpPr>
          <p:cNvPr name="TextBox 8" id="8"/>
          <p:cNvSpPr txBox="true"/>
          <p:nvPr/>
        </p:nvSpPr>
        <p:spPr>
          <a:xfrm rot="0">
            <a:off x="1041749" y="1059571"/>
            <a:ext cx="5449639"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Hệ quản trị cơ sở dữ liệu MySQL</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259300" y="9350588"/>
            <a:ext cx="19288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7</a:t>
            </a:r>
          </a:p>
        </p:txBody>
      </p:sp>
      <p:sp>
        <p:nvSpPr>
          <p:cNvPr name="TextBox 11" id="11"/>
          <p:cNvSpPr txBox="true"/>
          <p:nvPr/>
        </p:nvSpPr>
        <p:spPr>
          <a:xfrm rot="0">
            <a:off x="763893" y="2755853"/>
            <a:ext cx="8674872" cy="1967230"/>
          </a:xfrm>
          <a:prstGeom prst="rect">
            <a:avLst/>
          </a:prstGeom>
        </p:spPr>
        <p:txBody>
          <a:bodyPr anchor="t" rtlCol="false" tIns="0" lIns="0" bIns="0" rIns="0">
            <a:spAutoFit/>
          </a:bodyPr>
          <a:lstStyle/>
          <a:p>
            <a:pPr algn="just">
              <a:lnSpc>
                <a:spcPts val="3919"/>
              </a:lnSpc>
            </a:pPr>
            <a:r>
              <a:rPr lang="en-US" sz="2799" b="true">
                <a:solidFill>
                  <a:srgbClr val="000000"/>
                </a:solidFill>
                <a:latin typeface="Inter Bold"/>
                <a:ea typeface="Inter Bold"/>
                <a:cs typeface="Inter Bold"/>
                <a:sym typeface="Inter Bold"/>
              </a:rPr>
              <a:t>MySQL</a:t>
            </a:r>
            <a:r>
              <a:rPr lang="en-US" sz="2799">
                <a:solidFill>
                  <a:srgbClr val="000000"/>
                </a:solidFill>
                <a:latin typeface="Inter"/>
                <a:ea typeface="Inter"/>
                <a:cs typeface="Inter"/>
                <a:sym typeface="Inter"/>
              </a:rPr>
              <a:t> là hệ quản trị cơ sở dữ liệu mã nguồn mở, phổ biến và được sử dụng rộng rãi trong phát triển ứng dụng.</a:t>
            </a:r>
          </a:p>
          <a:p>
            <a:pPr algn="just">
              <a:lnSpc>
                <a:spcPts val="3919"/>
              </a:lnSpc>
            </a:pPr>
          </a:p>
        </p:txBody>
      </p:sp>
      <p:sp>
        <p:nvSpPr>
          <p:cNvPr name="TextBox 12" id="12"/>
          <p:cNvSpPr txBox="true"/>
          <p:nvPr/>
        </p:nvSpPr>
        <p:spPr>
          <a:xfrm rot="0">
            <a:off x="763324" y="4507689"/>
            <a:ext cx="8674872" cy="14719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Có tốc độ xử lý cao, ổn định, dễ sử dụng và phù hợp với nhiều mô hình ứng dụng khác nhau.</a:t>
            </a:r>
          </a:p>
          <a:p>
            <a:pPr algn="just">
              <a:lnSpc>
                <a:spcPts val="3919"/>
              </a:lnSpc>
            </a:pPr>
          </a:p>
        </p:txBody>
      </p:sp>
      <p:sp>
        <p:nvSpPr>
          <p:cNvPr name="TextBox 13" id="13"/>
          <p:cNvSpPr txBox="true"/>
          <p:nvPr/>
        </p:nvSpPr>
        <p:spPr>
          <a:xfrm rot="0">
            <a:off x="820474" y="5875608"/>
            <a:ext cx="8674872" cy="14719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Hoạt động trên nhiều hệ điều hành như Windows, Linux, macOS, Unix,… và được phát hành miễn phí.</a:t>
            </a:r>
          </a:p>
          <a:p>
            <a:pPr algn="just">
              <a:lnSpc>
                <a:spcPts val="3919"/>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4" id="4"/>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5" id="5"/>
          <p:cNvSpPr txBox="true"/>
          <p:nvPr/>
        </p:nvSpPr>
        <p:spPr>
          <a:xfrm rot="0">
            <a:off x="17020899" y="9350588"/>
            <a:ext cx="19288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8</a:t>
            </a:r>
          </a:p>
        </p:txBody>
      </p:sp>
      <p:sp>
        <p:nvSpPr>
          <p:cNvPr name="TextBox 6" id="6"/>
          <p:cNvSpPr txBox="true"/>
          <p:nvPr/>
        </p:nvSpPr>
        <p:spPr>
          <a:xfrm rot="0">
            <a:off x="4362821" y="4364536"/>
            <a:ext cx="8869851" cy="1548413"/>
          </a:xfrm>
          <a:prstGeom prst="rect">
            <a:avLst/>
          </a:prstGeom>
        </p:spPr>
        <p:txBody>
          <a:bodyPr anchor="t" rtlCol="false" tIns="0" lIns="0" bIns="0" rIns="0">
            <a:spAutoFit/>
          </a:bodyPr>
          <a:lstStyle/>
          <a:p>
            <a:pPr algn="ctr">
              <a:lnSpc>
                <a:spcPts val="6000"/>
              </a:lnSpc>
            </a:pPr>
            <a:r>
              <a:rPr lang="en-US" b="true" sz="4999" spc="138">
                <a:solidFill>
                  <a:srgbClr val="225686">
                    <a:alpha val="81961"/>
                  </a:srgbClr>
                </a:solidFill>
                <a:latin typeface="Open Sans Bold"/>
                <a:ea typeface="Open Sans Bold"/>
                <a:cs typeface="Open Sans Bold"/>
                <a:sym typeface="Open Sans Bold"/>
              </a:rPr>
              <a:t>3. PHÂN TÍCH VÀ THIẾT KẾ HỆ THỐNG</a:t>
            </a:r>
          </a:p>
        </p:txBody>
      </p:sp>
      <p:grpSp>
        <p:nvGrpSpPr>
          <p:cNvPr name="Group 7" id="7"/>
          <p:cNvGrpSpPr/>
          <p:nvPr/>
        </p:nvGrpSpPr>
        <p:grpSpPr>
          <a:xfrm rot="0">
            <a:off x="1019185" y="1014412"/>
            <a:ext cx="14681892" cy="23812"/>
            <a:chOff x="0" y="0"/>
            <a:chExt cx="19575856" cy="31750"/>
          </a:xfrm>
        </p:grpSpPr>
        <p:sp>
          <p:nvSpPr>
            <p:cNvPr name="Freeform 8" id="8"/>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9" id="9" descr="tvu"/>
          <p:cNvSpPr/>
          <p:nvPr/>
        </p:nvSpPr>
        <p:spPr>
          <a:xfrm flipH="false" flipV="false" rot="0">
            <a:off x="16695420" y="706269"/>
            <a:ext cx="804053" cy="793785"/>
          </a:xfrm>
          <a:custGeom>
            <a:avLst/>
            <a:gdLst/>
            <a:ahLst/>
            <a:cxnLst/>
            <a:rect r="r" b="b" t="t" l="l"/>
            <a:pathLst>
              <a:path h="793785" w="804053">
                <a:moveTo>
                  <a:pt x="0" y="0"/>
                </a:moveTo>
                <a:lnTo>
                  <a:pt x="804053" y="0"/>
                </a:lnTo>
                <a:lnTo>
                  <a:pt x="804053" y="793785"/>
                </a:lnTo>
                <a:lnTo>
                  <a:pt x="0" y="793785"/>
                </a:lnTo>
                <a:lnTo>
                  <a:pt x="0" y="0"/>
                </a:lnTo>
                <a:close/>
              </a:path>
            </a:pathLst>
          </a:custGeom>
          <a:blipFill>
            <a:blip r:embed="rId2"/>
            <a:stretch>
              <a:fillRect l="-34915" t="-35319" r="-34256" b="-36041"/>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391070" y="1896808"/>
            <a:ext cx="9505861" cy="6493383"/>
          </a:xfrm>
          <a:custGeom>
            <a:avLst/>
            <a:gdLst/>
            <a:ahLst/>
            <a:cxnLst/>
            <a:rect r="r" b="b" t="t" l="l"/>
            <a:pathLst>
              <a:path h="6493383" w="9505861">
                <a:moveTo>
                  <a:pt x="0" y="0"/>
                </a:moveTo>
                <a:lnTo>
                  <a:pt x="9505860" y="0"/>
                </a:lnTo>
                <a:lnTo>
                  <a:pt x="9505860" y="6493384"/>
                </a:lnTo>
                <a:lnTo>
                  <a:pt x="0" y="6493384"/>
                </a:lnTo>
                <a:lnTo>
                  <a:pt x="0" y="0"/>
                </a:lnTo>
                <a:close/>
              </a:path>
            </a:pathLst>
          </a:custGeom>
          <a:blipFill>
            <a:blip r:embed="rId2"/>
            <a:stretch>
              <a:fillRect l="0" t="0" r="0" b="0"/>
            </a:stretch>
          </a:blipFill>
        </p:spPr>
      </p:sp>
      <p:sp>
        <p:nvSpPr>
          <p:cNvPr name="TextBox 7" id="7"/>
          <p:cNvSpPr txBox="true"/>
          <p:nvPr/>
        </p:nvSpPr>
        <p:spPr>
          <a:xfrm rot="0">
            <a:off x="1041749" y="669046"/>
            <a:ext cx="503708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 Phân tích và thiết kế hệ thống</a:t>
            </a:r>
          </a:p>
        </p:txBody>
      </p:sp>
      <p:sp>
        <p:nvSpPr>
          <p:cNvPr name="TextBox 8" id="8"/>
          <p:cNvSpPr txBox="true"/>
          <p:nvPr/>
        </p:nvSpPr>
        <p:spPr>
          <a:xfrm rot="0">
            <a:off x="1041749" y="1059571"/>
            <a:ext cx="5273725"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Mô hình dữ liệu mức quan niệm</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19288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760974" y="1831970"/>
            <a:ext cx="8766051" cy="6623059"/>
          </a:xfrm>
          <a:custGeom>
            <a:avLst/>
            <a:gdLst/>
            <a:ahLst/>
            <a:cxnLst/>
            <a:rect r="r" b="b" t="t" l="l"/>
            <a:pathLst>
              <a:path h="6623059" w="8766051">
                <a:moveTo>
                  <a:pt x="0" y="0"/>
                </a:moveTo>
                <a:lnTo>
                  <a:pt x="8766052" y="0"/>
                </a:lnTo>
                <a:lnTo>
                  <a:pt x="8766052" y="6623060"/>
                </a:lnTo>
                <a:lnTo>
                  <a:pt x="0" y="6623060"/>
                </a:lnTo>
                <a:lnTo>
                  <a:pt x="0" y="0"/>
                </a:lnTo>
                <a:close/>
              </a:path>
            </a:pathLst>
          </a:custGeom>
          <a:blipFill>
            <a:blip r:embed="rId2"/>
            <a:stretch>
              <a:fillRect l="0" t="0" r="0" b="0"/>
            </a:stretch>
          </a:blipFill>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4357489"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Mô</a:t>
            </a:r>
            <a:r>
              <a:rPr lang="en-US" b="true" sz="2600" spc="72">
                <a:solidFill>
                  <a:srgbClr val="225686"/>
                </a:solidFill>
                <a:latin typeface="Arimo Bold"/>
                <a:ea typeface="Arimo Bold"/>
                <a:cs typeface="Arimo Bold"/>
                <a:sym typeface="Arimo Bold"/>
              </a:rPr>
              <a:t> hình dữ liệu mức logic</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10</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990750" y="1737900"/>
            <a:ext cx="8562398" cy="6851596"/>
          </a:xfrm>
          <a:custGeom>
            <a:avLst/>
            <a:gdLst/>
            <a:ahLst/>
            <a:cxnLst/>
            <a:rect r="r" b="b" t="t" l="l"/>
            <a:pathLst>
              <a:path h="6851596" w="8562398">
                <a:moveTo>
                  <a:pt x="0" y="0"/>
                </a:moveTo>
                <a:lnTo>
                  <a:pt x="8562398" y="0"/>
                </a:lnTo>
                <a:lnTo>
                  <a:pt x="8562398" y="6851596"/>
                </a:lnTo>
                <a:lnTo>
                  <a:pt x="0" y="6851596"/>
                </a:lnTo>
                <a:lnTo>
                  <a:pt x="0" y="0"/>
                </a:lnTo>
                <a:close/>
              </a:path>
            </a:pathLst>
          </a:custGeom>
          <a:blipFill>
            <a:blip r:embed="rId2"/>
            <a:stretch>
              <a:fillRect l="0" t="0" r="0" b="0"/>
            </a:stretch>
          </a:blipFill>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4434483" cy="800100"/>
          </a:xfrm>
          <a:prstGeom prst="rect">
            <a:avLst/>
          </a:prstGeom>
        </p:spPr>
        <p:txBody>
          <a:bodyPr anchor="t" rtlCol="false" tIns="0" lIns="0" bIns="0" rIns="0">
            <a:spAutoFit/>
          </a:bodyPr>
          <a:lstStyle/>
          <a:p>
            <a:pPr algn="l">
              <a:lnSpc>
                <a:spcPts val="3120"/>
              </a:lnSpc>
            </a:pPr>
            <a:r>
              <a:rPr lang="en-US" b="true" sz="2600" spc="70">
                <a:solidFill>
                  <a:srgbClr val="225686"/>
                </a:solidFill>
                <a:latin typeface="Arimo Bold"/>
                <a:ea typeface="Arimo Bold"/>
                <a:cs typeface="Arimo Bold"/>
                <a:sym typeface="Arimo Bold"/>
              </a:rPr>
              <a:t>Mô</a:t>
            </a:r>
            <a:r>
              <a:rPr lang="en-US" b="true" sz="2600" spc="70">
                <a:solidFill>
                  <a:srgbClr val="225686"/>
                </a:solidFill>
                <a:latin typeface="Arimo Bold"/>
                <a:ea typeface="Arimo Bold"/>
                <a:cs typeface="Arimo Bold"/>
                <a:sym typeface="Arimo Bold"/>
              </a:rPr>
              <a:t> hình dữ liệu mức vật lý</a:t>
            </a:r>
          </a:p>
          <a:p>
            <a:pPr algn="l">
              <a:lnSpc>
                <a:spcPts val="3120"/>
              </a:lnSpc>
            </a:pP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168832" y="1469146"/>
            <a:ext cx="10769096" cy="7511833"/>
          </a:xfrm>
          <a:custGeom>
            <a:avLst/>
            <a:gdLst/>
            <a:ahLst/>
            <a:cxnLst/>
            <a:rect r="r" b="b" t="t" l="l"/>
            <a:pathLst>
              <a:path h="7511833" w="10769096">
                <a:moveTo>
                  <a:pt x="0" y="0"/>
                </a:moveTo>
                <a:lnTo>
                  <a:pt x="10769096" y="0"/>
                </a:lnTo>
                <a:lnTo>
                  <a:pt x="10769096" y="7511833"/>
                </a:lnTo>
                <a:lnTo>
                  <a:pt x="0" y="7511833"/>
                </a:lnTo>
                <a:lnTo>
                  <a:pt x="0" y="0"/>
                </a:lnTo>
                <a:close/>
              </a:path>
            </a:pathLst>
          </a:custGeom>
          <a:blipFill>
            <a:blip r:embed="rId2"/>
            <a:stretch>
              <a:fillRect l="0" t="0" r="0" b="0"/>
            </a:stretch>
          </a:blipFill>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2989808"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Mô hình Use Case</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800850" y="1828906"/>
            <a:ext cx="9540687" cy="7060109"/>
          </a:xfrm>
          <a:custGeom>
            <a:avLst/>
            <a:gdLst/>
            <a:ahLst/>
            <a:cxnLst/>
            <a:rect r="r" b="b" t="t" l="l"/>
            <a:pathLst>
              <a:path h="7060109" w="9540687">
                <a:moveTo>
                  <a:pt x="0" y="0"/>
                </a:moveTo>
                <a:lnTo>
                  <a:pt x="9540687" y="0"/>
                </a:lnTo>
                <a:lnTo>
                  <a:pt x="9540687" y="7060109"/>
                </a:lnTo>
                <a:lnTo>
                  <a:pt x="0" y="7060109"/>
                </a:lnTo>
                <a:lnTo>
                  <a:pt x="0" y="0"/>
                </a:lnTo>
                <a:close/>
              </a:path>
            </a:pathLst>
          </a:custGeom>
          <a:blipFill>
            <a:blip r:embed="rId2"/>
            <a:stretch>
              <a:fillRect l="0" t="0" r="0" b="0"/>
            </a:stretch>
          </a:blipFill>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759101"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Lược đồ cơ sở dữ liệu</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63"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664762" y="1796017"/>
            <a:ext cx="9659096" cy="6242191"/>
          </a:xfrm>
          <a:custGeom>
            <a:avLst/>
            <a:gdLst/>
            <a:ahLst/>
            <a:cxnLst/>
            <a:rect r="r" b="b" t="t" l="l"/>
            <a:pathLst>
              <a:path h="6242191" w="9659096">
                <a:moveTo>
                  <a:pt x="0" y="0"/>
                </a:moveTo>
                <a:lnTo>
                  <a:pt x="9659096" y="0"/>
                </a:lnTo>
                <a:lnTo>
                  <a:pt x="9659096" y="6242190"/>
                </a:lnTo>
                <a:lnTo>
                  <a:pt x="0" y="6242190"/>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29222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Phác thảo giao diện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63"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14</a:t>
            </a:r>
          </a:p>
        </p:txBody>
      </p:sp>
      <p:sp>
        <p:nvSpPr>
          <p:cNvPr name="TextBox 11" id="11"/>
          <p:cNvSpPr txBox="true"/>
          <p:nvPr/>
        </p:nvSpPr>
        <p:spPr>
          <a:xfrm rot="0">
            <a:off x="7546291" y="8275846"/>
            <a:ext cx="4091533"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đăng ký tài khoản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758359" y="1846012"/>
            <a:ext cx="9555467" cy="6175220"/>
          </a:xfrm>
          <a:custGeom>
            <a:avLst/>
            <a:gdLst/>
            <a:ahLst/>
            <a:cxnLst/>
            <a:rect r="r" b="b" t="t" l="l"/>
            <a:pathLst>
              <a:path h="6175220" w="9555467">
                <a:moveTo>
                  <a:pt x="0" y="0"/>
                </a:moveTo>
                <a:lnTo>
                  <a:pt x="9555467" y="0"/>
                </a:lnTo>
                <a:lnTo>
                  <a:pt x="9555467" y="6175220"/>
                </a:lnTo>
                <a:lnTo>
                  <a:pt x="0" y="6175220"/>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29222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Phác thảo giao diện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15</a:t>
            </a:r>
          </a:p>
        </p:txBody>
      </p:sp>
      <p:sp>
        <p:nvSpPr>
          <p:cNvPr name="TextBox 11" id="11"/>
          <p:cNvSpPr txBox="true"/>
          <p:nvPr/>
        </p:nvSpPr>
        <p:spPr>
          <a:xfrm rot="0">
            <a:off x="7422466" y="8275846"/>
            <a:ext cx="4481966"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đăng nhập tài khoản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343501" y="1829814"/>
            <a:ext cx="9749757" cy="6300780"/>
          </a:xfrm>
          <a:custGeom>
            <a:avLst/>
            <a:gdLst/>
            <a:ahLst/>
            <a:cxnLst/>
            <a:rect r="r" b="b" t="t" l="l"/>
            <a:pathLst>
              <a:path h="6300780" w="9749757">
                <a:moveTo>
                  <a:pt x="0" y="0"/>
                </a:moveTo>
                <a:lnTo>
                  <a:pt x="9749757" y="0"/>
                </a:lnTo>
                <a:lnTo>
                  <a:pt x="9749757" y="6300781"/>
                </a:lnTo>
                <a:lnTo>
                  <a:pt x="0" y="6300781"/>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29222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Phác thảo giao diện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16</a:t>
            </a:r>
          </a:p>
        </p:txBody>
      </p:sp>
      <p:sp>
        <p:nvSpPr>
          <p:cNvPr name="TextBox 11" id="11"/>
          <p:cNvSpPr txBox="true"/>
          <p:nvPr/>
        </p:nvSpPr>
        <p:spPr>
          <a:xfrm rot="0">
            <a:off x="8411076" y="8335658"/>
            <a:ext cx="1977220"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chủ</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248852" y="1906144"/>
            <a:ext cx="9636614" cy="6227662"/>
          </a:xfrm>
          <a:custGeom>
            <a:avLst/>
            <a:gdLst/>
            <a:ahLst/>
            <a:cxnLst/>
            <a:rect r="r" b="b" t="t" l="l"/>
            <a:pathLst>
              <a:path h="6227662" w="9636614">
                <a:moveTo>
                  <a:pt x="0" y="0"/>
                </a:moveTo>
                <a:lnTo>
                  <a:pt x="9636614" y="0"/>
                </a:lnTo>
                <a:lnTo>
                  <a:pt x="9636614" y="6227662"/>
                </a:lnTo>
                <a:lnTo>
                  <a:pt x="0" y="6227662"/>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29222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Phác thảo giao diện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17</a:t>
            </a:r>
          </a:p>
        </p:txBody>
      </p:sp>
      <p:sp>
        <p:nvSpPr>
          <p:cNvPr name="TextBox 11" id="11"/>
          <p:cNvSpPr txBox="true"/>
          <p:nvPr/>
        </p:nvSpPr>
        <p:spPr>
          <a:xfrm rot="0">
            <a:off x="8411076" y="8316608"/>
            <a:ext cx="1977220"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chủ</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207654" y="1765357"/>
            <a:ext cx="9891743" cy="6392539"/>
          </a:xfrm>
          <a:custGeom>
            <a:avLst/>
            <a:gdLst/>
            <a:ahLst/>
            <a:cxnLst/>
            <a:rect r="r" b="b" t="t" l="l"/>
            <a:pathLst>
              <a:path h="6392539" w="9891743">
                <a:moveTo>
                  <a:pt x="0" y="0"/>
                </a:moveTo>
                <a:lnTo>
                  <a:pt x="9891742" y="0"/>
                </a:lnTo>
                <a:lnTo>
                  <a:pt x="9891742" y="6392539"/>
                </a:lnTo>
                <a:lnTo>
                  <a:pt x="0" y="6392539"/>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29222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Phác thảo giao diện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18</a:t>
            </a:r>
          </a:p>
        </p:txBody>
      </p:sp>
      <p:sp>
        <p:nvSpPr>
          <p:cNvPr name="TextBox 11" id="11"/>
          <p:cNvSpPr txBox="true"/>
          <p:nvPr/>
        </p:nvSpPr>
        <p:spPr>
          <a:xfrm rot="0">
            <a:off x="7374994" y="8320757"/>
            <a:ext cx="3912407"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chi tiết khóa học</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072480" y="1866030"/>
            <a:ext cx="9702188" cy="6270039"/>
          </a:xfrm>
          <a:custGeom>
            <a:avLst/>
            <a:gdLst/>
            <a:ahLst/>
            <a:cxnLst/>
            <a:rect r="r" b="b" t="t" l="l"/>
            <a:pathLst>
              <a:path h="6270039" w="9702188">
                <a:moveTo>
                  <a:pt x="0" y="0"/>
                </a:moveTo>
                <a:lnTo>
                  <a:pt x="9702189" y="0"/>
                </a:lnTo>
                <a:lnTo>
                  <a:pt x="9702189" y="6270040"/>
                </a:lnTo>
                <a:lnTo>
                  <a:pt x="0" y="6270040"/>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29222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Phác thảo giao diện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19</a:t>
            </a:r>
          </a:p>
        </p:txBody>
      </p:sp>
      <p:sp>
        <p:nvSpPr>
          <p:cNvPr name="TextBox 11" id="11"/>
          <p:cNvSpPr txBox="true"/>
          <p:nvPr/>
        </p:nvSpPr>
        <p:spPr>
          <a:xfrm rot="0">
            <a:off x="7374994" y="8320757"/>
            <a:ext cx="3912407"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học khóa học</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333976" y="2050752"/>
            <a:ext cx="9554265" cy="6110432"/>
          </a:xfrm>
          <a:custGeom>
            <a:avLst/>
            <a:gdLst/>
            <a:ahLst/>
            <a:cxnLst/>
            <a:rect r="r" b="b" t="t" l="l"/>
            <a:pathLst>
              <a:path h="6110432" w="9554265">
                <a:moveTo>
                  <a:pt x="0" y="0"/>
                </a:moveTo>
                <a:lnTo>
                  <a:pt x="9554265" y="0"/>
                </a:lnTo>
                <a:lnTo>
                  <a:pt x="9554265" y="6110432"/>
                </a:lnTo>
                <a:lnTo>
                  <a:pt x="0" y="6110432"/>
                </a:lnTo>
                <a:lnTo>
                  <a:pt x="0" y="0"/>
                </a:lnTo>
                <a:close/>
              </a:path>
            </a:pathLst>
          </a:custGeom>
          <a:blipFill>
            <a:blip r:embed="rId2"/>
            <a:stretch>
              <a:fillRect l="0" t="-665" r="0" b="-381"/>
            </a:stretch>
          </a:blipFill>
          <a:ln w="19050" cap="sq">
            <a:solidFill>
              <a:srgbClr val="000000"/>
            </a:solidFill>
            <a:prstDash val="solid"/>
            <a:miter/>
          </a:ln>
        </p:spPr>
      </p:sp>
      <p:sp>
        <p:nvSpPr>
          <p:cNvPr name="TextBox 7" id="7"/>
          <p:cNvSpPr txBox="true"/>
          <p:nvPr/>
        </p:nvSpPr>
        <p:spPr>
          <a:xfrm rot="0">
            <a:off x="1041749" y="669046"/>
            <a:ext cx="5037237"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3</a:t>
            </a:r>
            <a:r>
              <a:rPr lang="en-US" sz="2600" i="true" spc="72">
                <a:solidFill>
                  <a:srgbClr val="225686"/>
                </a:solidFill>
                <a:latin typeface="Arimo Italics"/>
                <a:ea typeface="Arimo Italics"/>
                <a:cs typeface="Arimo Italics"/>
                <a:sym typeface="Arimo Italics"/>
              </a:rPr>
              <a:t>. Phân tích và thiết kế hệ thống</a:t>
            </a:r>
          </a:p>
        </p:txBody>
      </p:sp>
      <p:sp>
        <p:nvSpPr>
          <p:cNvPr name="TextBox 8" id="8"/>
          <p:cNvSpPr txBox="true"/>
          <p:nvPr/>
        </p:nvSpPr>
        <p:spPr>
          <a:xfrm rot="0">
            <a:off x="1041749" y="1059571"/>
            <a:ext cx="3292227"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Phác thảo giao diện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20</a:t>
            </a:r>
          </a:p>
        </p:txBody>
      </p:sp>
      <p:sp>
        <p:nvSpPr>
          <p:cNvPr name="TextBox 11" id="11"/>
          <p:cNvSpPr txBox="true"/>
          <p:nvPr/>
        </p:nvSpPr>
        <p:spPr>
          <a:xfrm rot="0">
            <a:off x="6946369" y="8320757"/>
            <a:ext cx="4506544"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dashboard quản trị</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4" id="4"/>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5" id="5"/>
          <p:cNvSpPr txBox="true"/>
          <p:nvPr/>
        </p:nvSpPr>
        <p:spPr>
          <a:xfrm rot="0">
            <a:off x="17020899"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21</a:t>
            </a:r>
          </a:p>
        </p:txBody>
      </p:sp>
      <p:sp>
        <p:nvSpPr>
          <p:cNvPr name="TextBox 6" id="6"/>
          <p:cNvSpPr txBox="true"/>
          <p:nvPr/>
        </p:nvSpPr>
        <p:spPr>
          <a:xfrm rot="0">
            <a:off x="4584897" y="4600213"/>
            <a:ext cx="8869851" cy="778964"/>
          </a:xfrm>
          <a:prstGeom prst="rect">
            <a:avLst/>
          </a:prstGeom>
        </p:spPr>
        <p:txBody>
          <a:bodyPr anchor="t" rtlCol="false" tIns="0" lIns="0" bIns="0" rIns="0">
            <a:spAutoFit/>
          </a:bodyPr>
          <a:lstStyle/>
          <a:p>
            <a:pPr algn="ctr">
              <a:lnSpc>
                <a:spcPts val="6000"/>
              </a:lnSpc>
            </a:pPr>
            <a:r>
              <a:rPr lang="en-US" b="true" sz="4999" spc="138">
                <a:solidFill>
                  <a:srgbClr val="225686">
                    <a:alpha val="81961"/>
                  </a:srgbClr>
                </a:solidFill>
                <a:latin typeface="Open Sans Bold"/>
                <a:ea typeface="Open Sans Bold"/>
                <a:cs typeface="Open Sans Bold"/>
                <a:sym typeface="Open Sans Bold"/>
              </a:rPr>
              <a:t>4. XÂY DỰNG WEBSITE</a:t>
            </a:r>
          </a:p>
        </p:txBody>
      </p:sp>
      <p:grpSp>
        <p:nvGrpSpPr>
          <p:cNvPr name="Group 7" id="7"/>
          <p:cNvGrpSpPr/>
          <p:nvPr/>
        </p:nvGrpSpPr>
        <p:grpSpPr>
          <a:xfrm rot="0">
            <a:off x="1019185" y="1014412"/>
            <a:ext cx="14681892" cy="23812"/>
            <a:chOff x="0" y="0"/>
            <a:chExt cx="19575856" cy="31750"/>
          </a:xfrm>
        </p:grpSpPr>
        <p:sp>
          <p:nvSpPr>
            <p:cNvPr name="Freeform 8" id="8"/>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9" id="9" descr="tvu"/>
          <p:cNvSpPr/>
          <p:nvPr/>
        </p:nvSpPr>
        <p:spPr>
          <a:xfrm flipH="false" flipV="false" rot="0">
            <a:off x="16695420" y="706269"/>
            <a:ext cx="804053" cy="793785"/>
          </a:xfrm>
          <a:custGeom>
            <a:avLst/>
            <a:gdLst/>
            <a:ahLst/>
            <a:cxnLst/>
            <a:rect r="r" b="b" t="t" l="l"/>
            <a:pathLst>
              <a:path h="793785" w="804053">
                <a:moveTo>
                  <a:pt x="0" y="0"/>
                </a:moveTo>
                <a:lnTo>
                  <a:pt x="804053" y="0"/>
                </a:lnTo>
                <a:lnTo>
                  <a:pt x="804053" y="793785"/>
                </a:lnTo>
                <a:lnTo>
                  <a:pt x="0" y="793785"/>
                </a:lnTo>
                <a:lnTo>
                  <a:pt x="0" y="0"/>
                </a:lnTo>
                <a:close/>
              </a:path>
            </a:pathLst>
          </a:custGeom>
          <a:blipFill>
            <a:blip r:embed="rId2"/>
            <a:stretch>
              <a:fillRect l="-34915" t="-35319" r="-34256" b="-36041"/>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3321245" y="2057808"/>
            <a:ext cx="11756792" cy="5731436"/>
          </a:xfrm>
          <a:custGeom>
            <a:avLst/>
            <a:gdLst/>
            <a:ahLst/>
            <a:cxnLst/>
            <a:rect r="r" b="b" t="t" l="l"/>
            <a:pathLst>
              <a:path h="5731436" w="11756792">
                <a:moveTo>
                  <a:pt x="0" y="0"/>
                </a:moveTo>
                <a:lnTo>
                  <a:pt x="11756791" y="0"/>
                </a:lnTo>
                <a:lnTo>
                  <a:pt x="11756791" y="5731436"/>
                </a:lnTo>
                <a:lnTo>
                  <a:pt x="0" y="5731436"/>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31727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4</a:t>
            </a:r>
            <a:r>
              <a:rPr lang="en-US" sz="2600" i="true" spc="72">
                <a:solidFill>
                  <a:srgbClr val="225686"/>
                </a:solidFill>
                <a:latin typeface="Arimo Italics"/>
                <a:ea typeface="Arimo Italics"/>
                <a:cs typeface="Arimo Italics"/>
                <a:sym typeface="Arimo Italics"/>
              </a:rPr>
              <a:t>. Xây dựng website</a:t>
            </a:r>
          </a:p>
        </p:txBody>
      </p:sp>
      <p:sp>
        <p:nvSpPr>
          <p:cNvPr name="TextBox 8" id="8"/>
          <p:cNvSpPr txBox="true"/>
          <p:nvPr/>
        </p:nvSpPr>
        <p:spPr>
          <a:xfrm rot="0">
            <a:off x="1041749" y="1059571"/>
            <a:ext cx="5603230"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Giao diện trang đăng ký tài khoản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22</a:t>
            </a:r>
          </a:p>
        </p:txBody>
      </p:sp>
      <p:sp>
        <p:nvSpPr>
          <p:cNvPr name="TextBox 11" id="11"/>
          <p:cNvSpPr txBox="true"/>
          <p:nvPr/>
        </p:nvSpPr>
        <p:spPr>
          <a:xfrm rot="0">
            <a:off x="7079719" y="8221195"/>
            <a:ext cx="4506544"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đăng ký tài khoản</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3032013" y="2237536"/>
            <a:ext cx="12392023" cy="5669351"/>
          </a:xfrm>
          <a:custGeom>
            <a:avLst/>
            <a:gdLst/>
            <a:ahLst/>
            <a:cxnLst/>
            <a:rect r="r" b="b" t="t" l="l"/>
            <a:pathLst>
              <a:path h="5669351" w="12392023">
                <a:moveTo>
                  <a:pt x="0" y="0"/>
                </a:moveTo>
                <a:lnTo>
                  <a:pt x="12392023" y="0"/>
                </a:lnTo>
                <a:lnTo>
                  <a:pt x="12392023" y="5669350"/>
                </a:lnTo>
                <a:lnTo>
                  <a:pt x="0" y="5669350"/>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31727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4</a:t>
            </a:r>
            <a:r>
              <a:rPr lang="en-US" sz="2600" i="true" spc="72">
                <a:solidFill>
                  <a:srgbClr val="225686"/>
                </a:solidFill>
                <a:latin typeface="Arimo Italics"/>
                <a:ea typeface="Arimo Italics"/>
                <a:cs typeface="Arimo Italics"/>
                <a:sym typeface="Arimo Italics"/>
              </a:rPr>
              <a:t>. Xây dựng website</a:t>
            </a:r>
          </a:p>
        </p:txBody>
      </p:sp>
      <p:sp>
        <p:nvSpPr>
          <p:cNvPr name="TextBox 8" id="8"/>
          <p:cNvSpPr txBox="true"/>
          <p:nvPr/>
        </p:nvSpPr>
        <p:spPr>
          <a:xfrm rot="0">
            <a:off x="1041749" y="1059571"/>
            <a:ext cx="6042868"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Giao diện trang đăng nhập tài khoản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23</a:t>
            </a:r>
          </a:p>
        </p:txBody>
      </p:sp>
      <p:sp>
        <p:nvSpPr>
          <p:cNvPr name="TextBox 11" id="11"/>
          <p:cNvSpPr txBox="true"/>
          <p:nvPr/>
        </p:nvSpPr>
        <p:spPr>
          <a:xfrm rot="0">
            <a:off x="7079719" y="8221195"/>
            <a:ext cx="4506544"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đăng nhập tài khoản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2543772" y="1980898"/>
            <a:ext cx="13200457" cy="6088711"/>
          </a:xfrm>
          <a:custGeom>
            <a:avLst/>
            <a:gdLst/>
            <a:ahLst/>
            <a:cxnLst/>
            <a:rect r="r" b="b" t="t" l="l"/>
            <a:pathLst>
              <a:path h="6088711" w="13200457">
                <a:moveTo>
                  <a:pt x="0" y="0"/>
                </a:moveTo>
                <a:lnTo>
                  <a:pt x="13200456" y="0"/>
                </a:lnTo>
                <a:lnTo>
                  <a:pt x="13200456" y="6088711"/>
                </a:lnTo>
                <a:lnTo>
                  <a:pt x="0" y="6088711"/>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31727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4</a:t>
            </a:r>
            <a:r>
              <a:rPr lang="en-US" sz="2600" i="true" spc="72">
                <a:solidFill>
                  <a:srgbClr val="225686"/>
                </a:solidFill>
                <a:latin typeface="Arimo Italics"/>
                <a:ea typeface="Arimo Italics"/>
                <a:cs typeface="Arimo Italics"/>
                <a:sym typeface="Arimo Italics"/>
              </a:rPr>
              <a:t>. Xây dựng website</a:t>
            </a:r>
          </a:p>
        </p:txBody>
      </p:sp>
      <p:sp>
        <p:nvSpPr>
          <p:cNvPr name="TextBox 8" id="8"/>
          <p:cNvSpPr txBox="true"/>
          <p:nvPr/>
        </p:nvSpPr>
        <p:spPr>
          <a:xfrm rot="0">
            <a:off x="1041749" y="1059571"/>
            <a:ext cx="3273623"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Giao diện trang chủ</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24</a:t>
            </a:r>
          </a:p>
        </p:txBody>
      </p:sp>
      <p:sp>
        <p:nvSpPr>
          <p:cNvPr name="TextBox 11" id="11"/>
          <p:cNvSpPr txBox="true"/>
          <p:nvPr/>
        </p:nvSpPr>
        <p:spPr>
          <a:xfrm rot="0">
            <a:off x="8394079" y="8325970"/>
            <a:ext cx="1858392"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chủ</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2837664" y="2234702"/>
            <a:ext cx="12605079" cy="5814093"/>
          </a:xfrm>
          <a:custGeom>
            <a:avLst/>
            <a:gdLst/>
            <a:ahLst/>
            <a:cxnLst/>
            <a:rect r="r" b="b" t="t" l="l"/>
            <a:pathLst>
              <a:path h="5814093" w="12605079">
                <a:moveTo>
                  <a:pt x="0" y="0"/>
                </a:moveTo>
                <a:lnTo>
                  <a:pt x="12605079" y="0"/>
                </a:lnTo>
                <a:lnTo>
                  <a:pt x="12605079" y="5814093"/>
                </a:lnTo>
                <a:lnTo>
                  <a:pt x="0" y="5814093"/>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31727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4</a:t>
            </a:r>
            <a:r>
              <a:rPr lang="en-US" sz="2600" i="true" spc="72">
                <a:solidFill>
                  <a:srgbClr val="225686"/>
                </a:solidFill>
                <a:latin typeface="Arimo Italics"/>
                <a:ea typeface="Arimo Italics"/>
                <a:cs typeface="Arimo Italics"/>
                <a:sym typeface="Arimo Italics"/>
              </a:rPr>
              <a:t>. Xây dựng website</a:t>
            </a:r>
          </a:p>
        </p:txBody>
      </p:sp>
      <p:sp>
        <p:nvSpPr>
          <p:cNvPr name="TextBox 8" id="8"/>
          <p:cNvSpPr txBox="true"/>
          <p:nvPr/>
        </p:nvSpPr>
        <p:spPr>
          <a:xfrm rot="0">
            <a:off x="1041749" y="1059571"/>
            <a:ext cx="3273623"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Giao diện trang chủ</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25</a:t>
            </a:r>
          </a:p>
        </p:txBody>
      </p:sp>
      <p:sp>
        <p:nvSpPr>
          <p:cNvPr name="TextBox 11" id="11"/>
          <p:cNvSpPr txBox="true"/>
          <p:nvPr/>
        </p:nvSpPr>
        <p:spPr>
          <a:xfrm rot="0">
            <a:off x="8394079" y="8325970"/>
            <a:ext cx="1858392"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chủ</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2640461" y="1982431"/>
            <a:ext cx="13220910" cy="6098145"/>
          </a:xfrm>
          <a:custGeom>
            <a:avLst/>
            <a:gdLst/>
            <a:ahLst/>
            <a:cxnLst/>
            <a:rect r="r" b="b" t="t" l="l"/>
            <a:pathLst>
              <a:path h="6098145" w="13220910">
                <a:moveTo>
                  <a:pt x="0" y="0"/>
                </a:moveTo>
                <a:lnTo>
                  <a:pt x="13220910" y="0"/>
                </a:lnTo>
                <a:lnTo>
                  <a:pt x="13220910" y="6098145"/>
                </a:lnTo>
                <a:lnTo>
                  <a:pt x="0" y="6098145"/>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31727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4</a:t>
            </a:r>
            <a:r>
              <a:rPr lang="en-US" sz="2600" i="true" spc="72">
                <a:solidFill>
                  <a:srgbClr val="225686"/>
                </a:solidFill>
                <a:latin typeface="Arimo Italics"/>
                <a:ea typeface="Arimo Italics"/>
                <a:cs typeface="Arimo Italics"/>
                <a:sym typeface="Arimo Italics"/>
              </a:rPr>
              <a:t>. Xây dựng website</a:t>
            </a:r>
          </a:p>
        </p:txBody>
      </p:sp>
      <p:sp>
        <p:nvSpPr>
          <p:cNvPr name="TextBox 8" id="8"/>
          <p:cNvSpPr txBox="true"/>
          <p:nvPr/>
        </p:nvSpPr>
        <p:spPr>
          <a:xfrm rot="0">
            <a:off x="1041749" y="1059571"/>
            <a:ext cx="5419576"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Giao diện trang chi tiết khóa học</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26</a:t>
            </a:r>
          </a:p>
        </p:txBody>
      </p:sp>
      <p:sp>
        <p:nvSpPr>
          <p:cNvPr name="TextBox 11" id="11"/>
          <p:cNvSpPr txBox="true"/>
          <p:nvPr/>
        </p:nvSpPr>
        <p:spPr>
          <a:xfrm rot="0">
            <a:off x="7235299" y="8275044"/>
            <a:ext cx="4031235"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chi tiết khóa học</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4437947" y="1831392"/>
            <a:ext cx="9625938" cy="6329054"/>
          </a:xfrm>
          <a:custGeom>
            <a:avLst/>
            <a:gdLst/>
            <a:ahLst/>
            <a:cxnLst/>
            <a:rect r="r" b="b" t="t" l="l"/>
            <a:pathLst>
              <a:path h="6329054" w="9625938">
                <a:moveTo>
                  <a:pt x="0" y="0"/>
                </a:moveTo>
                <a:lnTo>
                  <a:pt x="9625938" y="0"/>
                </a:lnTo>
                <a:lnTo>
                  <a:pt x="9625938" y="6329055"/>
                </a:lnTo>
                <a:lnTo>
                  <a:pt x="0" y="6329055"/>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31727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4</a:t>
            </a:r>
            <a:r>
              <a:rPr lang="en-US" sz="2600" i="true" spc="72">
                <a:solidFill>
                  <a:srgbClr val="225686"/>
                </a:solidFill>
                <a:latin typeface="Arimo Italics"/>
                <a:ea typeface="Arimo Italics"/>
                <a:cs typeface="Arimo Italics"/>
                <a:sym typeface="Arimo Italics"/>
              </a:rPr>
              <a:t>. Xây dựng website</a:t>
            </a:r>
          </a:p>
        </p:txBody>
      </p:sp>
      <p:sp>
        <p:nvSpPr>
          <p:cNvPr name="TextBox 8" id="8"/>
          <p:cNvSpPr txBox="true"/>
          <p:nvPr/>
        </p:nvSpPr>
        <p:spPr>
          <a:xfrm rot="0">
            <a:off x="1041749" y="1059571"/>
            <a:ext cx="4896892"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Giao diện trang học khóa học</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27</a:t>
            </a:r>
          </a:p>
        </p:txBody>
      </p:sp>
      <p:sp>
        <p:nvSpPr>
          <p:cNvPr name="TextBox 11" id="11"/>
          <p:cNvSpPr txBox="true"/>
          <p:nvPr/>
        </p:nvSpPr>
        <p:spPr>
          <a:xfrm rot="0">
            <a:off x="7454374" y="8370294"/>
            <a:ext cx="4031235"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học khóa học</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2706191" y="2008049"/>
            <a:ext cx="12967468" cy="5981245"/>
          </a:xfrm>
          <a:custGeom>
            <a:avLst/>
            <a:gdLst/>
            <a:ahLst/>
            <a:cxnLst/>
            <a:rect r="r" b="b" t="t" l="l"/>
            <a:pathLst>
              <a:path h="5981245" w="12967468">
                <a:moveTo>
                  <a:pt x="0" y="0"/>
                </a:moveTo>
                <a:lnTo>
                  <a:pt x="12967468" y="0"/>
                </a:lnTo>
                <a:lnTo>
                  <a:pt x="12967468" y="5981245"/>
                </a:lnTo>
                <a:lnTo>
                  <a:pt x="0" y="5981245"/>
                </a:lnTo>
                <a:lnTo>
                  <a:pt x="0" y="0"/>
                </a:lnTo>
                <a:close/>
              </a:path>
            </a:pathLst>
          </a:custGeom>
          <a:blipFill>
            <a:blip r:embed="rId2"/>
            <a:stretch>
              <a:fillRect l="0" t="0" r="0" b="0"/>
            </a:stretch>
          </a:blipFill>
          <a:ln w="19050" cap="sq">
            <a:solidFill>
              <a:srgbClr val="000000"/>
            </a:solidFill>
            <a:prstDash val="solid"/>
            <a:miter/>
          </a:ln>
        </p:spPr>
      </p:sp>
      <p:sp>
        <p:nvSpPr>
          <p:cNvPr name="TextBox 7" id="7"/>
          <p:cNvSpPr txBox="true"/>
          <p:nvPr/>
        </p:nvSpPr>
        <p:spPr>
          <a:xfrm rot="0">
            <a:off x="1041749" y="669046"/>
            <a:ext cx="3172718"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4</a:t>
            </a:r>
            <a:r>
              <a:rPr lang="en-US" sz="2600" i="true" spc="72">
                <a:solidFill>
                  <a:srgbClr val="225686"/>
                </a:solidFill>
                <a:latin typeface="Arimo Italics"/>
                <a:ea typeface="Arimo Italics"/>
                <a:cs typeface="Arimo Italics"/>
                <a:sym typeface="Arimo Italics"/>
              </a:rPr>
              <a:t>. Xây dựng website</a:t>
            </a:r>
          </a:p>
        </p:txBody>
      </p:sp>
      <p:sp>
        <p:nvSpPr>
          <p:cNvPr name="TextBox 8" id="8"/>
          <p:cNvSpPr txBox="true"/>
          <p:nvPr/>
        </p:nvSpPr>
        <p:spPr>
          <a:xfrm rot="0">
            <a:off x="1041749" y="1059571"/>
            <a:ext cx="5813673"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Giao diện trang dashboard quản trị</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066468"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28</a:t>
            </a:r>
          </a:p>
        </p:txBody>
      </p:sp>
      <p:sp>
        <p:nvSpPr>
          <p:cNvPr name="TextBox 11" id="11"/>
          <p:cNvSpPr txBox="true"/>
          <p:nvPr/>
        </p:nvSpPr>
        <p:spPr>
          <a:xfrm rot="0">
            <a:off x="7416274" y="8292644"/>
            <a:ext cx="4319815" cy="481330"/>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Trang dashboard quản trị</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4" id="4"/>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5" id="5"/>
          <p:cNvSpPr txBox="true"/>
          <p:nvPr/>
        </p:nvSpPr>
        <p:spPr>
          <a:xfrm rot="0">
            <a:off x="17020899"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29</a:t>
            </a:r>
          </a:p>
        </p:txBody>
      </p:sp>
      <p:sp>
        <p:nvSpPr>
          <p:cNvPr name="TextBox 6" id="6"/>
          <p:cNvSpPr txBox="true"/>
          <p:nvPr/>
        </p:nvSpPr>
        <p:spPr>
          <a:xfrm rot="0">
            <a:off x="4584897" y="4600213"/>
            <a:ext cx="8869851" cy="1548413"/>
          </a:xfrm>
          <a:prstGeom prst="rect">
            <a:avLst/>
          </a:prstGeom>
        </p:spPr>
        <p:txBody>
          <a:bodyPr anchor="t" rtlCol="false" tIns="0" lIns="0" bIns="0" rIns="0">
            <a:spAutoFit/>
          </a:bodyPr>
          <a:lstStyle/>
          <a:p>
            <a:pPr algn="ctr">
              <a:lnSpc>
                <a:spcPts val="6000"/>
              </a:lnSpc>
            </a:pPr>
            <a:r>
              <a:rPr lang="en-US" b="true" sz="4999" spc="138">
                <a:solidFill>
                  <a:srgbClr val="225686">
                    <a:alpha val="81961"/>
                  </a:srgbClr>
                </a:solidFill>
                <a:latin typeface="Open Sans Bold"/>
                <a:ea typeface="Open Sans Bold"/>
                <a:cs typeface="Open Sans Bold"/>
                <a:sym typeface="Open Sans Bold"/>
              </a:rPr>
              <a:t>5. KẾT LUẬN VÀ HƯỚNG PHÁT TRIỂN</a:t>
            </a:r>
          </a:p>
        </p:txBody>
      </p:sp>
      <p:grpSp>
        <p:nvGrpSpPr>
          <p:cNvPr name="Group 7" id="7"/>
          <p:cNvGrpSpPr/>
          <p:nvPr/>
        </p:nvGrpSpPr>
        <p:grpSpPr>
          <a:xfrm rot="0">
            <a:off x="1019185" y="1014412"/>
            <a:ext cx="14681892" cy="23812"/>
            <a:chOff x="0" y="0"/>
            <a:chExt cx="19575856" cy="31750"/>
          </a:xfrm>
        </p:grpSpPr>
        <p:sp>
          <p:nvSpPr>
            <p:cNvPr name="Freeform 8" id="8"/>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9" id="9" descr="tvu"/>
          <p:cNvSpPr/>
          <p:nvPr/>
        </p:nvSpPr>
        <p:spPr>
          <a:xfrm flipH="false" flipV="false" rot="0">
            <a:off x="16695420" y="706269"/>
            <a:ext cx="804053" cy="793785"/>
          </a:xfrm>
          <a:custGeom>
            <a:avLst/>
            <a:gdLst/>
            <a:ahLst/>
            <a:cxnLst/>
            <a:rect r="r" b="b" t="t" l="l"/>
            <a:pathLst>
              <a:path h="793785" w="804053">
                <a:moveTo>
                  <a:pt x="0" y="0"/>
                </a:moveTo>
                <a:lnTo>
                  <a:pt x="804053" y="0"/>
                </a:lnTo>
                <a:lnTo>
                  <a:pt x="804053" y="793785"/>
                </a:lnTo>
                <a:lnTo>
                  <a:pt x="0" y="793785"/>
                </a:lnTo>
                <a:lnTo>
                  <a:pt x="0" y="0"/>
                </a:lnTo>
                <a:close/>
              </a:path>
            </a:pathLst>
          </a:custGeom>
          <a:blipFill>
            <a:blip r:embed="rId2"/>
            <a:stretch>
              <a:fillRect l="-34915" t="-35319" r="-34256" b="-36041"/>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1504128" y="4066097"/>
            <a:ext cx="660403" cy="591492"/>
          </a:xfrm>
          <a:custGeom>
            <a:avLst/>
            <a:gdLst/>
            <a:ahLst/>
            <a:cxnLst/>
            <a:rect r="r" b="b" t="t" l="l"/>
            <a:pathLst>
              <a:path h="591492" w="660403">
                <a:moveTo>
                  <a:pt x="0" y="0"/>
                </a:moveTo>
                <a:lnTo>
                  <a:pt x="660404" y="0"/>
                </a:lnTo>
                <a:lnTo>
                  <a:pt x="660404" y="591492"/>
                </a:lnTo>
                <a:lnTo>
                  <a:pt x="0" y="591492"/>
                </a:lnTo>
                <a:lnTo>
                  <a:pt x="0" y="0"/>
                </a:lnTo>
                <a:close/>
              </a:path>
            </a:pathLst>
          </a:custGeom>
          <a:blipFill>
            <a:blip r:embed="rId2"/>
            <a:stretch>
              <a:fillRect l="0" t="0" r="0" b="0"/>
            </a:stretch>
          </a:blipFill>
        </p:spPr>
      </p:sp>
      <p:sp>
        <p:nvSpPr>
          <p:cNvPr name="TextBox 7" id="7"/>
          <p:cNvSpPr txBox="true"/>
          <p:nvPr/>
        </p:nvSpPr>
        <p:spPr>
          <a:xfrm rot="0">
            <a:off x="1041749" y="669046"/>
            <a:ext cx="4822031"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5</a:t>
            </a:r>
            <a:r>
              <a:rPr lang="en-US" sz="2600" i="true" spc="72">
                <a:solidFill>
                  <a:srgbClr val="225686"/>
                </a:solidFill>
                <a:latin typeface="Arimo Italics"/>
                <a:ea typeface="Arimo Italics"/>
                <a:cs typeface="Arimo Italics"/>
                <a:sym typeface="Arimo Italics"/>
              </a:rPr>
              <a:t>. Kết luận và hướng phát triển</a:t>
            </a:r>
          </a:p>
        </p:txBody>
      </p:sp>
      <p:sp>
        <p:nvSpPr>
          <p:cNvPr name="TextBox 8" id="8"/>
          <p:cNvSpPr txBox="true"/>
          <p:nvPr/>
        </p:nvSpPr>
        <p:spPr>
          <a:xfrm rot="0">
            <a:off x="1041749" y="1059571"/>
            <a:ext cx="1375618"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Kết luận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259300"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30</a:t>
            </a:r>
          </a:p>
        </p:txBody>
      </p:sp>
      <p:sp>
        <p:nvSpPr>
          <p:cNvPr name="TextBox 11" id="11"/>
          <p:cNvSpPr txBox="true"/>
          <p:nvPr/>
        </p:nvSpPr>
        <p:spPr>
          <a:xfrm rot="0">
            <a:off x="1028700" y="2431062"/>
            <a:ext cx="16230600" cy="1967205"/>
          </a:xfrm>
          <a:prstGeom prst="rect">
            <a:avLst/>
          </a:prstGeom>
        </p:spPr>
        <p:txBody>
          <a:bodyPr anchor="t" rtlCol="false" tIns="0" lIns="0" bIns="0" rIns="0">
            <a:spAutoFit/>
          </a:bodyPr>
          <a:lstStyle/>
          <a:p>
            <a:pPr algn="just">
              <a:lnSpc>
                <a:spcPts val="3919"/>
              </a:lnSpc>
            </a:pPr>
            <a:r>
              <a:rPr lang="en-US" sz="2799">
                <a:solidFill>
                  <a:srgbClr val="000000"/>
                </a:solidFill>
                <a:latin typeface="Inter"/>
                <a:ea typeface="Inter"/>
                <a:cs typeface="Inter"/>
                <a:sym typeface="Inter"/>
              </a:rPr>
              <a:t>Hoàn thành xây dựng website bán khóa học</a:t>
            </a:r>
            <a:r>
              <a:rPr lang="en-US" sz="2799">
                <a:solidFill>
                  <a:srgbClr val="000000"/>
                </a:solidFill>
                <a:latin typeface="Inter"/>
                <a:ea typeface="Inter"/>
                <a:cs typeface="Inter"/>
                <a:sym typeface="Inter"/>
              </a:rPr>
              <a:t> l</a:t>
            </a:r>
            <a:r>
              <a:rPr lang="en-US" sz="2799">
                <a:solidFill>
                  <a:srgbClr val="000000"/>
                </a:solidFill>
                <a:latin typeface="Inter"/>
                <a:ea typeface="Inter"/>
                <a:cs typeface="Inter"/>
                <a:sym typeface="Inter"/>
              </a:rPr>
              <a:t>ập</a:t>
            </a:r>
            <a:r>
              <a:rPr lang="en-US" sz="2799">
                <a:solidFill>
                  <a:srgbClr val="000000"/>
                </a:solidFill>
                <a:latin typeface="Inter"/>
                <a:ea typeface="Inter"/>
                <a:cs typeface="Inter"/>
                <a:sym typeface="Inter"/>
              </a:rPr>
              <a:t> </a:t>
            </a:r>
            <a:r>
              <a:rPr lang="en-US" sz="2799">
                <a:solidFill>
                  <a:srgbClr val="000000"/>
                </a:solidFill>
                <a:latin typeface="Inter"/>
                <a:ea typeface="Inter"/>
                <a:cs typeface="Inter"/>
                <a:sym typeface="Inter"/>
              </a:rPr>
              <a:t>trì</a:t>
            </a:r>
            <a:r>
              <a:rPr lang="en-US" sz="2799">
                <a:solidFill>
                  <a:srgbClr val="000000"/>
                </a:solidFill>
                <a:latin typeface="Inter"/>
                <a:ea typeface="Inter"/>
                <a:cs typeface="Inter"/>
                <a:sym typeface="Inter"/>
              </a:rPr>
              <a:t>nh</a:t>
            </a:r>
            <a:r>
              <a:rPr lang="en-US" sz="2799">
                <a:solidFill>
                  <a:srgbClr val="000000"/>
                </a:solidFill>
                <a:latin typeface="Inter"/>
                <a:ea typeface="Inter"/>
                <a:cs typeface="Inter"/>
                <a:sym typeface="Inter"/>
              </a:rPr>
              <a:t> web</a:t>
            </a:r>
            <a:r>
              <a:rPr lang="en-US" sz="2799">
                <a:solidFill>
                  <a:srgbClr val="000000"/>
                </a:solidFill>
                <a:latin typeface="Inter"/>
                <a:ea typeface="Inter"/>
                <a:cs typeface="Inter"/>
                <a:sym typeface="Inter"/>
              </a:rPr>
              <a:t> th</a:t>
            </a:r>
            <a:r>
              <a:rPr lang="en-US" sz="2799">
                <a:solidFill>
                  <a:srgbClr val="000000"/>
                </a:solidFill>
                <a:latin typeface="Inter"/>
                <a:ea typeface="Inter"/>
                <a:cs typeface="Inter"/>
                <a:sym typeface="Inter"/>
              </a:rPr>
              <a:t>eo đú</a:t>
            </a:r>
            <a:r>
              <a:rPr lang="en-US" sz="2799">
                <a:solidFill>
                  <a:srgbClr val="000000"/>
                </a:solidFill>
                <a:latin typeface="Inter"/>
                <a:ea typeface="Inter"/>
                <a:cs typeface="Inter"/>
                <a:sym typeface="Inter"/>
              </a:rPr>
              <a:t>ng </a:t>
            </a:r>
            <a:r>
              <a:rPr lang="en-US" sz="2799">
                <a:solidFill>
                  <a:srgbClr val="000000"/>
                </a:solidFill>
                <a:latin typeface="Inter"/>
                <a:ea typeface="Inter"/>
                <a:cs typeface="Inter"/>
                <a:sym typeface="Inter"/>
              </a:rPr>
              <a:t>mục </a:t>
            </a:r>
            <a:r>
              <a:rPr lang="en-US" sz="2799">
                <a:solidFill>
                  <a:srgbClr val="000000"/>
                </a:solidFill>
                <a:latin typeface="Inter"/>
                <a:ea typeface="Inter"/>
                <a:cs typeface="Inter"/>
                <a:sym typeface="Inter"/>
              </a:rPr>
              <a:t>ti</a:t>
            </a:r>
            <a:r>
              <a:rPr lang="en-US" sz="2799">
                <a:solidFill>
                  <a:srgbClr val="000000"/>
                </a:solidFill>
                <a:latin typeface="Inter"/>
                <a:ea typeface="Inter"/>
                <a:cs typeface="Inter"/>
                <a:sym typeface="Inter"/>
              </a:rPr>
              <a:t>êu đề tài, đáp ứng đầy đủ các chức năng:</a:t>
            </a:r>
          </a:p>
          <a:p>
            <a:pPr algn="just">
              <a:lnSpc>
                <a:spcPts val="3919"/>
              </a:lnSpc>
            </a:pPr>
          </a:p>
          <a:p>
            <a:pPr algn="just">
              <a:lnSpc>
                <a:spcPts val="3920"/>
              </a:lnSpc>
            </a:pPr>
          </a:p>
        </p:txBody>
      </p:sp>
      <p:sp>
        <p:nvSpPr>
          <p:cNvPr name="TextBox 12" id="12"/>
          <p:cNvSpPr txBox="true"/>
          <p:nvPr/>
        </p:nvSpPr>
        <p:spPr>
          <a:xfrm rot="0">
            <a:off x="2417368" y="3588261"/>
            <a:ext cx="8761455" cy="1967205"/>
          </a:xfrm>
          <a:prstGeom prst="rect">
            <a:avLst/>
          </a:prstGeom>
        </p:spPr>
        <p:txBody>
          <a:bodyPr anchor="t" rtlCol="false" tIns="0" lIns="0" bIns="0" rIns="0">
            <a:spAutoFit/>
          </a:bodyPr>
          <a:lstStyle/>
          <a:p>
            <a:pPr algn="just">
              <a:lnSpc>
                <a:spcPts val="3919"/>
              </a:lnSpc>
            </a:pPr>
          </a:p>
          <a:p>
            <a:pPr algn="just">
              <a:lnSpc>
                <a:spcPts val="3919"/>
              </a:lnSpc>
            </a:pPr>
            <a:r>
              <a:rPr lang="en-US" sz="2799">
                <a:solidFill>
                  <a:srgbClr val="000000"/>
                </a:solidFill>
                <a:latin typeface="Inter"/>
                <a:ea typeface="Inter"/>
                <a:cs typeface="Inter"/>
                <a:sym typeface="Inter"/>
              </a:rPr>
              <a:t>Đăng ký, đăng nhập người dùng</a:t>
            </a:r>
          </a:p>
          <a:p>
            <a:pPr algn="just">
              <a:lnSpc>
                <a:spcPts val="3919"/>
              </a:lnSpc>
            </a:pPr>
          </a:p>
          <a:p>
            <a:pPr algn="just">
              <a:lnSpc>
                <a:spcPts val="3920"/>
              </a:lnSpc>
            </a:pPr>
          </a:p>
        </p:txBody>
      </p:sp>
      <p:sp>
        <p:nvSpPr>
          <p:cNvPr name="Freeform 13" id="13"/>
          <p:cNvSpPr/>
          <p:nvPr/>
        </p:nvSpPr>
        <p:spPr>
          <a:xfrm flipH="false" flipV="false" rot="0">
            <a:off x="9661038" y="4123247"/>
            <a:ext cx="660403" cy="591492"/>
          </a:xfrm>
          <a:custGeom>
            <a:avLst/>
            <a:gdLst/>
            <a:ahLst/>
            <a:cxnLst/>
            <a:rect r="r" b="b" t="t" l="l"/>
            <a:pathLst>
              <a:path h="591492" w="660403">
                <a:moveTo>
                  <a:pt x="0" y="0"/>
                </a:moveTo>
                <a:lnTo>
                  <a:pt x="660404" y="0"/>
                </a:lnTo>
                <a:lnTo>
                  <a:pt x="660404" y="591492"/>
                </a:lnTo>
                <a:lnTo>
                  <a:pt x="0" y="591492"/>
                </a:lnTo>
                <a:lnTo>
                  <a:pt x="0" y="0"/>
                </a:lnTo>
                <a:close/>
              </a:path>
            </a:pathLst>
          </a:custGeom>
          <a:blipFill>
            <a:blip r:embed="rId2"/>
            <a:stretch>
              <a:fillRect l="0" t="0" r="0" b="0"/>
            </a:stretch>
          </a:blipFill>
        </p:spPr>
      </p:sp>
      <p:sp>
        <p:nvSpPr>
          <p:cNvPr name="TextBox 14" id="14"/>
          <p:cNvSpPr txBox="true"/>
          <p:nvPr/>
        </p:nvSpPr>
        <p:spPr>
          <a:xfrm rot="0">
            <a:off x="10574277" y="3645411"/>
            <a:ext cx="8761455" cy="1967205"/>
          </a:xfrm>
          <a:prstGeom prst="rect">
            <a:avLst/>
          </a:prstGeom>
        </p:spPr>
        <p:txBody>
          <a:bodyPr anchor="t" rtlCol="false" tIns="0" lIns="0" bIns="0" rIns="0">
            <a:spAutoFit/>
          </a:bodyPr>
          <a:lstStyle/>
          <a:p>
            <a:pPr algn="just">
              <a:lnSpc>
                <a:spcPts val="3919"/>
              </a:lnSpc>
            </a:pPr>
          </a:p>
          <a:p>
            <a:pPr algn="just">
              <a:lnSpc>
                <a:spcPts val="3919"/>
              </a:lnSpc>
            </a:pPr>
            <a:r>
              <a:rPr lang="en-US" sz="2799">
                <a:solidFill>
                  <a:srgbClr val="000000"/>
                </a:solidFill>
                <a:latin typeface="Inter"/>
                <a:ea typeface="Inter"/>
                <a:cs typeface="Inter"/>
                <a:sym typeface="Inter"/>
              </a:rPr>
              <a:t>Xem da</a:t>
            </a:r>
            <a:r>
              <a:rPr lang="en-US" sz="2799">
                <a:solidFill>
                  <a:srgbClr val="000000"/>
                </a:solidFill>
                <a:latin typeface="Inter"/>
                <a:ea typeface="Inter"/>
                <a:cs typeface="Inter"/>
                <a:sym typeface="Inter"/>
              </a:rPr>
              <a:t>nh sách và chi tiết khóa học</a:t>
            </a:r>
          </a:p>
          <a:p>
            <a:pPr algn="just">
              <a:lnSpc>
                <a:spcPts val="3919"/>
              </a:lnSpc>
            </a:pPr>
          </a:p>
          <a:p>
            <a:pPr algn="just">
              <a:lnSpc>
                <a:spcPts val="3920"/>
              </a:lnSpc>
            </a:pPr>
          </a:p>
        </p:txBody>
      </p:sp>
      <p:sp>
        <p:nvSpPr>
          <p:cNvPr name="Freeform 15" id="15"/>
          <p:cNvSpPr/>
          <p:nvPr/>
        </p:nvSpPr>
        <p:spPr>
          <a:xfrm flipH="false" flipV="false" rot="0">
            <a:off x="1504128" y="5270967"/>
            <a:ext cx="660403" cy="591492"/>
          </a:xfrm>
          <a:custGeom>
            <a:avLst/>
            <a:gdLst/>
            <a:ahLst/>
            <a:cxnLst/>
            <a:rect r="r" b="b" t="t" l="l"/>
            <a:pathLst>
              <a:path h="591492" w="660403">
                <a:moveTo>
                  <a:pt x="0" y="0"/>
                </a:moveTo>
                <a:lnTo>
                  <a:pt x="660404" y="0"/>
                </a:lnTo>
                <a:lnTo>
                  <a:pt x="660404" y="591492"/>
                </a:lnTo>
                <a:lnTo>
                  <a:pt x="0" y="591492"/>
                </a:lnTo>
                <a:lnTo>
                  <a:pt x="0" y="0"/>
                </a:lnTo>
                <a:close/>
              </a:path>
            </a:pathLst>
          </a:custGeom>
          <a:blipFill>
            <a:blip r:embed="rId2"/>
            <a:stretch>
              <a:fillRect l="0" t="0" r="0" b="0"/>
            </a:stretch>
          </a:blipFill>
        </p:spPr>
      </p:sp>
      <p:sp>
        <p:nvSpPr>
          <p:cNvPr name="TextBox 16" id="16"/>
          <p:cNvSpPr txBox="true"/>
          <p:nvPr/>
        </p:nvSpPr>
        <p:spPr>
          <a:xfrm rot="0">
            <a:off x="2417368" y="4793132"/>
            <a:ext cx="8761455" cy="1967205"/>
          </a:xfrm>
          <a:prstGeom prst="rect">
            <a:avLst/>
          </a:prstGeom>
        </p:spPr>
        <p:txBody>
          <a:bodyPr anchor="t" rtlCol="false" tIns="0" lIns="0" bIns="0" rIns="0">
            <a:spAutoFit/>
          </a:bodyPr>
          <a:lstStyle/>
          <a:p>
            <a:pPr algn="just">
              <a:lnSpc>
                <a:spcPts val="3919"/>
              </a:lnSpc>
            </a:pPr>
          </a:p>
          <a:p>
            <a:pPr algn="just">
              <a:lnSpc>
                <a:spcPts val="3919"/>
              </a:lnSpc>
            </a:pPr>
            <a:r>
              <a:rPr lang="en-US" sz="2799">
                <a:solidFill>
                  <a:srgbClr val="000000"/>
                </a:solidFill>
                <a:latin typeface="Inter"/>
                <a:ea typeface="Inter"/>
                <a:cs typeface="Inter"/>
                <a:sym typeface="Inter"/>
              </a:rPr>
              <a:t>Mua</a:t>
            </a:r>
            <a:r>
              <a:rPr lang="en-US" sz="2799">
                <a:solidFill>
                  <a:srgbClr val="000000"/>
                </a:solidFill>
                <a:latin typeface="Inter"/>
                <a:ea typeface="Inter"/>
                <a:cs typeface="Inter"/>
                <a:sym typeface="Inter"/>
              </a:rPr>
              <a:t> khóa học và thanh toán trực tuyến</a:t>
            </a:r>
          </a:p>
          <a:p>
            <a:pPr algn="just">
              <a:lnSpc>
                <a:spcPts val="3919"/>
              </a:lnSpc>
            </a:pPr>
          </a:p>
          <a:p>
            <a:pPr algn="just">
              <a:lnSpc>
                <a:spcPts val="3920"/>
              </a:lnSpc>
            </a:pPr>
          </a:p>
        </p:txBody>
      </p:sp>
      <p:sp>
        <p:nvSpPr>
          <p:cNvPr name="Freeform 17" id="17"/>
          <p:cNvSpPr/>
          <p:nvPr/>
        </p:nvSpPr>
        <p:spPr>
          <a:xfrm flipH="false" flipV="false" rot="0">
            <a:off x="9661038" y="5270967"/>
            <a:ext cx="660403" cy="591492"/>
          </a:xfrm>
          <a:custGeom>
            <a:avLst/>
            <a:gdLst/>
            <a:ahLst/>
            <a:cxnLst/>
            <a:rect r="r" b="b" t="t" l="l"/>
            <a:pathLst>
              <a:path h="591492" w="660403">
                <a:moveTo>
                  <a:pt x="0" y="0"/>
                </a:moveTo>
                <a:lnTo>
                  <a:pt x="660404" y="0"/>
                </a:lnTo>
                <a:lnTo>
                  <a:pt x="660404" y="591492"/>
                </a:lnTo>
                <a:lnTo>
                  <a:pt x="0" y="591492"/>
                </a:lnTo>
                <a:lnTo>
                  <a:pt x="0" y="0"/>
                </a:lnTo>
                <a:close/>
              </a:path>
            </a:pathLst>
          </a:custGeom>
          <a:blipFill>
            <a:blip r:embed="rId2"/>
            <a:stretch>
              <a:fillRect l="0" t="0" r="0" b="0"/>
            </a:stretch>
          </a:blipFill>
        </p:spPr>
      </p:sp>
      <p:sp>
        <p:nvSpPr>
          <p:cNvPr name="TextBox 18" id="18"/>
          <p:cNvSpPr txBox="true"/>
          <p:nvPr/>
        </p:nvSpPr>
        <p:spPr>
          <a:xfrm rot="0">
            <a:off x="10574277" y="4793132"/>
            <a:ext cx="8761455" cy="1967205"/>
          </a:xfrm>
          <a:prstGeom prst="rect">
            <a:avLst/>
          </a:prstGeom>
        </p:spPr>
        <p:txBody>
          <a:bodyPr anchor="t" rtlCol="false" tIns="0" lIns="0" bIns="0" rIns="0">
            <a:spAutoFit/>
          </a:bodyPr>
          <a:lstStyle/>
          <a:p>
            <a:pPr algn="just">
              <a:lnSpc>
                <a:spcPts val="3919"/>
              </a:lnSpc>
            </a:pPr>
          </a:p>
          <a:p>
            <a:pPr algn="just">
              <a:lnSpc>
                <a:spcPts val="3919"/>
              </a:lnSpc>
            </a:pPr>
            <a:r>
              <a:rPr lang="en-US" sz="2799">
                <a:solidFill>
                  <a:srgbClr val="000000"/>
                </a:solidFill>
                <a:latin typeface="Inter"/>
                <a:ea typeface="Inter"/>
                <a:cs typeface="Inter"/>
                <a:sym typeface="Inter"/>
              </a:rPr>
              <a:t>Ghi da</a:t>
            </a:r>
            <a:r>
              <a:rPr lang="en-US" sz="2799">
                <a:solidFill>
                  <a:srgbClr val="000000"/>
                </a:solidFill>
                <a:latin typeface="Inter"/>
                <a:ea typeface="Inter"/>
                <a:cs typeface="Inter"/>
                <a:sym typeface="Inter"/>
              </a:rPr>
              <a:t>nh và học trực tuyến qua video</a:t>
            </a:r>
          </a:p>
          <a:p>
            <a:pPr algn="just">
              <a:lnSpc>
                <a:spcPts val="3919"/>
              </a:lnSpc>
            </a:pPr>
          </a:p>
          <a:p>
            <a:pPr algn="just">
              <a:lnSpc>
                <a:spcPts val="3920"/>
              </a:lnSpc>
            </a:pPr>
          </a:p>
        </p:txBody>
      </p:sp>
      <p:sp>
        <p:nvSpPr>
          <p:cNvPr name="Freeform 19" id="19"/>
          <p:cNvSpPr/>
          <p:nvPr/>
        </p:nvSpPr>
        <p:spPr>
          <a:xfrm flipH="false" flipV="false" rot="0">
            <a:off x="1504128" y="6590761"/>
            <a:ext cx="660403" cy="591492"/>
          </a:xfrm>
          <a:custGeom>
            <a:avLst/>
            <a:gdLst/>
            <a:ahLst/>
            <a:cxnLst/>
            <a:rect r="r" b="b" t="t" l="l"/>
            <a:pathLst>
              <a:path h="591492" w="660403">
                <a:moveTo>
                  <a:pt x="0" y="0"/>
                </a:moveTo>
                <a:lnTo>
                  <a:pt x="660404" y="0"/>
                </a:lnTo>
                <a:lnTo>
                  <a:pt x="660404" y="591492"/>
                </a:lnTo>
                <a:lnTo>
                  <a:pt x="0" y="591492"/>
                </a:lnTo>
                <a:lnTo>
                  <a:pt x="0" y="0"/>
                </a:lnTo>
                <a:close/>
              </a:path>
            </a:pathLst>
          </a:custGeom>
          <a:blipFill>
            <a:blip r:embed="rId2"/>
            <a:stretch>
              <a:fillRect l="0" t="0" r="0" b="0"/>
            </a:stretch>
          </a:blipFill>
        </p:spPr>
      </p:sp>
      <p:sp>
        <p:nvSpPr>
          <p:cNvPr name="TextBox 20" id="20"/>
          <p:cNvSpPr txBox="true"/>
          <p:nvPr/>
        </p:nvSpPr>
        <p:spPr>
          <a:xfrm rot="0">
            <a:off x="2417368" y="5963336"/>
            <a:ext cx="5739846" cy="2462505"/>
          </a:xfrm>
          <a:prstGeom prst="rect">
            <a:avLst/>
          </a:prstGeom>
        </p:spPr>
        <p:txBody>
          <a:bodyPr anchor="t" rtlCol="false" tIns="0" lIns="0" bIns="0" rIns="0">
            <a:spAutoFit/>
          </a:bodyPr>
          <a:lstStyle/>
          <a:p>
            <a:pPr algn="just">
              <a:lnSpc>
                <a:spcPts val="3919"/>
              </a:lnSpc>
            </a:pPr>
          </a:p>
          <a:p>
            <a:pPr algn="just">
              <a:lnSpc>
                <a:spcPts val="3919"/>
              </a:lnSpc>
            </a:pPr>
            <a:r>
              <a:rPr lang="en-US" sz="2799">
                <a:solidFill>
                  <a:srgbClr val="000000"/>
                </a:solidFill>
                <a:latin typeface="Inter"/>
                <a:ea typeface="Inter"/>
                <a:cs typeface="Inter"/>
                <a:sym typeface="Inter"/>
              </a:rPr>
              <a:t>Quản lý người dùng,</a:t>
            </a:r>
            <a:r>
              <a:rPr lang="en-US" sz="2799">
                <a:solidFill>
                  <a:srgbClr val="000000"/>
                </a:solidFill>
                <a:latin typeface="Inter"/>
                <a:ea typeface="Inter"/>
                <a:cs typeface="Inter"/>
                <a:sym typeface="Inter"/>
              </a:rPr>
              <a:t> khóa học, đơn hàng, ghi danh</a:t>
            </a:r>
          </a:p>
          <a:p>
            <a:pPr algn="just">
              <a:lnSpc>
                <a:spcPts val="3919"/>
              </a:lnSpc>
            </a:pPr>
          </a:p>
          <a:p>
            <a:pPr algn="just">
              <a:lnSpc>
                <a:spcPts val="3920"/>
              </a:lnSpc>
            </a:pPr>
          </a:p>
        </p:txBody>
      </p:sp>
      <p:sp>
        <p:nvSpPr>
          <p:cNvPr name="Freeform 21" id="21"/>
          <p:cNvSpPr/>
          <p:nvPr/>
        </p:nvSpPr>
        <p:spPr>
          <a:xfrm flipH="false" flipV="false" rot="0">
            <a:off x="9661038" y="6527775"/>
            <a:ext cx="660403" cy="591492"/>
          </a:xfrm>
          <a:custGeom>
            <a:avLst/>
            <a:gdLst/>
            <a:ahLst/>
            <a:cxnLst/>
            <a:rect r="r" b="b" t="t" l="l"/>
            <a:pathLst>
              <a:path h="591492" w="660403">
                <a:moveTo>
                  <a:pt x="0" y="0"/>
                </a:moveTo>
                <a:lnTo>
                  <a:pt x="660404" y="0"/>
                </a:lnTo>
                <a:lnTo>
                  <a:pt x="660404" y="591492"/>
                </a:lnTo>
                <a:lnTo>
                  <a:pt x="0" y="591492"/>
                </a:lnTo>
                <a:lnTo>
                  <a:pt x="0" y="0"/>
                </a:lnTo>
                <a:close/>
              </a:path>
            </a:pathLst>
          </a:custGeom>
          <a:blipFill>
            <a:blip r:embed="rId2"/>
            <a:stretch>
              <a:fillRect l="0" t="0" r="0" b="0"/>
            </a:stretch>
          </a:blipFill>
        </p:spPr>
      </p:sp>
      <p:sp>
        <p:nvSpPr>
          <p:cNvPr name="TextBox 22" id="22"/>
          <p:cNvSpPr txBox="true"/>
          <p:nvPr/>
        </p:nvSpPr>
        <p:spPr>
          <a:xfrm rot="0">
            <a:off x="10574277" y="5969579"/>
            <a:ext cx="6096328" cy="2957805"/>
          </a:xfrm>
          <a:prstGeom prst="rect">
            <a:avLst/>
          </a:prstGeom>
        </p:spPr>
        <p:txBody>
          <a:bodyPr anchor="t" rtlCol="false" tIns="0" lIns="0" bIns="0" rIns="0">
            <a:spAutoFit/>
          </a:bodyPr>
          <a:lstStyle/>
          <a:p>
            <a:pPr algn="just">
              <a:lnSpc>
                <a:spcPts val="3919"/>
              </a:lnSpc>
            </a:pPr>
          </a:p>
          <a:p>
            <a:pPr algn="just">
              <a:lnSpc>
                <a:spcPts val="3919"/>
              </a:lnSpc>
            </a:pPr>
            <a:r>
              <a:rPr lang="en-US" sz="2799">
                <a:solidFill>
                  <a:srgbClr val="000000"/>
                </a:solidFill>
                <a:latin typeface="Inter"/>
                <a:ea typeface="Inter"/>
                <a:cs typeface="Inter"/>
                <a:sym typeface="Inter"/>
              </a:rPr>
              <a:t>Theo dõi tiế</a:t>
            </a:r>
            <a:r>
              <a:rPr lang="en-US" sz="2799">
                <a:solidFill>
                  <a:srgbClr val="000000"/>
                </a:solidFill>
                <a:latin typeface="Inter"/>
                <a:ea typeface="Inter"/>
                <a:cs typeface="Inter"/>
                <a:sym typeface="Inter"/>
              </a:rPr>
              <a:t>n độ học tập và thống kê hệ thống</a:t>
            </a:r>
          </a:p>
          <a:p>
            <a:pPr algn="just">
              <a:lnSpc>
                <a:spcPts val="3919"/>
              </a:lnSpc>
            </a:pPr>
          </a:p>
          <a:p>
            <a:pPr algn="just">
              <a:lnSpc>
                <a:spcPts val="3919"/>
              </a:lnSpc>
            </a:pPr>
          </a:p>
          <a:p>
            <a:pPr algn="just">
              <a:lnSpc>
                <a:spcPts val="3920"/>
              </a:lnSpc>
            </a:pP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28659C">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6" id="6"/>
          <p:cNvSpPr/>
          <p:nvPr/>
        </p:nvSpPr>
        <p:spPr>
          <a:xfrm flipH="false" flipV="false" rot="0">
            <a:off x="13166656" y="2957187"/>
            <a:ext cx="3905319" cy="4114800"/>
          </a:xfrm>
          <a:custGeom>
            <a:avLst/>
            <a:gdLst/>
            <a:ahLst/>
            <a:cxnLst/>
            <a:rect r="r" b="b" t="t" l="l"/>
            <a:pathLst>
              <a:path h="4114800" w="3905319">
                <a:moveTo>
                  <a:pt x="0" y="0"/>
                </a:moveTo>
                <a:lnTo>
                  <a:pt x="3905320" y="0"/>
                </a:lnTo>
                <a:lnTo>
                  <a:pt x="390532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041749" y="669046"/>
            <a:ext cx="4822031" cy="409575"/>
          </a:xfrm>
          <a:prstGeom prst="rect">
            <a:avLst/>
          </a:prstGeom>
        </p:spPr>
        <p:txBody>
          <a:bodyPr anchor="t" rtlCol="false" tIns="0" lIns="0" bIns="0" rIns="0">
            <a:spAutoFit/>
          </a:bodyPr>
          <a:lstStyle/>
          <a:p>
            <a:pPr algn="l">
              <a:lnSpc>
                <a:spcPts val="3120"/>
              </a:lnSpc>
            </a:pPr>
            <a:r>
              <a:rPr lang="en-US" sz="2600" i="true" spc="72">
                <a:solidFill>
                  <a:srgbClr val="225686"/>
                </a:solidFill>
                <a:latin typeface="Arimo Italics"/>
                <a:ea typeface="Arimo Italics"/>
                <a:cs typeface="Arimo Italics"/>
                <a:sym typeface="Arimo Italics"/>
              </a:rPr>
              <a:t>5</a:t>
            </a:r>
            <a:r>
              <a:rPr lang="en-US" sz="2600" i="true" spc="72">
                <a:solidFill>
                  <a:srgbClr val="225686"/>
                </a:solidFill>
                <a:latin typeface="Arimo Italics"/>
                <a:ea typeface="Arimo Italics"/>
                <a:cs typeface="Arimo Italics"/>
                <a:sym typeface="Arimo Italics"/>
              </a:rPr>
              <a:t>. Kết luận và hướng phát triển</a:t>
            </a:r>
          </a:p>
        </p:txBody>
      </p:sp>
      <p:sp>
        <p:nvSpPr>
          <p:cNvPr name="TextBox 8" id="8"/>
          <p:cNvSpPr txBox="true"/>
          <p:nvPr/>
        </p:nvSpPr>
        <p:spPr>
          <a:xfrm rot="0">
            <a:off x="1041749" y="1059571"/>
            <a:ext cx="2857649"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Hướng phát triển</a:t>
            </a:r>
          </a:p>
        </p:txBody>
      </p:sp>
      <p:sp>
        <p:nvSpPr>
          <p:cNvPr name="TextBox 9" id="9"/>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10" id="10"/>
          <p:cNvSpPr txBox="true"/>
          <p:nvPr/>
        </p:nvSpPr>
        <p:spPr>
          <a:xfrm rot="0">
            <a:off x="17259300"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31</a:t>
            </a:r>
          </a:p>
        </p:txBody>
      </p:sp>
      <p:sp>
        <p:nvSpPr>
          <p:cNvPr name="TextBox 11" id="11"/>
          <p:cNvSpPr txBox="true"/>
          <p:nvPr/>
        </p:nvSpPr>
        <p:spPr>
          <a:xfrm rot="0">
            <a:off x="1028700" y="2431062"/>
            <a:ext cx="10492939" cy="2462505"/>
          </a:xfrm>
          <a:prstGeom prst="rect">
            <a:avLst/>
          </a:prstGeom>
        </p:spPr>
        <p:txBody>
          <a:bodyPr anchor="t" rtlCol="false" tIns="0" lIns="0" bIns="0" rIns="0">
            <a:spAutoFit/>
          </a:bodyPr>
          <a:lstStyle/>
          <a:p>
            <a:pPr algn="just">
              <a:lnSpc>
                <a:spcPts val="3919"/>
              </a:lnSpc>
            </a:pPr>
            <a:r>
              <a:rPr lang="en-US" sz="2799" b="true">
                <a:solidFill>
                  <a:srgbClr val="000000"/>
                </a:solidFill>
                <a:latin typeface="Inter Bold"/>
                <a:ea typeface="Inter Bold"/>
                <a:cs typeface="Inter Bold"/>
                <a:sym typeface="Inter Bold"/>
              </a:rPr>
              <a:t>Bổ sung nội du</a:t>
            </a:r>
            <a:r>
              <a:rPr lang="en-US" sz="2799" b="true">
                <a:solidFill>
                  <a:srgbClr val="000000"/>
                </a:solidFill>
                <a:latin typeface="Inter Bold"/>
                <a:ea typeface="Inter Bold"/>
                <a:cs typeface="Inter Bold"/>
                <a:sym typeface="Inter Bold"/>
              </a:rPr>
              <a:t>ng h</a:t>
            </a:r>
            <a:r>
              <a:rPr lang="en-US" sz="2799" b="true">
                <a:solidFill>
                  <a:srgbClr val="000000"/>
                </a:solidFill>
                <a:latin typeface="Inter Bold"/>
                <a:ea typeface="Inter Bold"/>
                <a:cs typeface="Inter Bold"/>
                <a:sym typeface="Inter Bold"/>
              </a:rPr>
              <a:t>ọc t</a:t>
            </a:r>
            <a:r>
              <a:rPr lang="en-US" sz="2799" b="true">
                <a:solidFill>
                  <a:srgbClr val="000000"/>
                </a:solidFill>
                <a:latin typeface="Inter Bold"/>
                <a:ea typeface="Inter Bold"/>
                <a:cs typeface="Inter Bold"/>
                <a:sym typeface="Inter Bold"/>
              </a:rPr>
              <a:t>ập n</a:t>
            </a:r>
            <a:r>
              <a:rPr lang="en-US" sz="2799" b="true">
                <a:solidFill>
                  <a:srgbClr val="000000"/>
                </a:solidFill>
                <a:latin typeface="Inter Bold"/>
                <a:ea typeface="Inter Bold"/>
                <a:cs typeface="Inter Bold"/>
                <a:sym typeface="Inter Bold"/>
              </a:rPr>
              <a:t>âng</a:t>
            </a:r>
            <a:r>
              <a:rPr lang="en-US" sz="2799" b="true">
                <a:solidFill>
                  <a:srgbClr val="000000"/>
                </a:solidFill>
                <a:latin typeface="Inter Bold"/>
                <a:ea typeface="Inter Bold"/>
                <a:cs typeface="Inter Bold"/>
                <a:sym typeface="Inter Bold"/>
              </a:rPr>
              <a:t> </a:t>
            </a:r>
            <a:r>
              <a:rPr lang="en-US" sz="2799" b="true">
                <a:solidFill>
                  <a:srgbClr val="000000"/>
                </a:solidFill>
                <a:latin typeface="Inter Bold"/>
                <a:ea typeface="Inter Bold"/>
                <a:cs typeface="Inter Bold"/>
                <a:sym typeface="Inter Bold"/>
              </a:rPr>
              <a:t>cao</a:t>
            </a:r>
            <a:r>
              <a:rPr lang="en-US" sz="2799">
                <a:solidFill>
                  <a:srgbClr val="000000"/>
                </a:solidFill>
                <a:latin typeface="Inter"/>
                <a:ea typeface="Inter"/>
                <a:cs typeface="Inter"/>
                <a:sym typeface="Inter"/>
              </a:rPr>
              <a:t>: Thêm bài tập thực hành, tài liệu học tập và ghi chú cho từng bài học</a:t>
            </a:r>
          </a:p>
          <a:p>
            <a:pPr algn="just">
              <a:lnSpc>
                <a:spcPts val="3919"/>
              </a:lnSpc>
            </a:pPr>
          </a:p>
          <a:p>
            <a:pPr algn="just">
              <a:lnSpc>
                <a:spcPts val="3919"/>
              </a:lnSpc>
            </a:pPr>
          </a:p>
          <a:p>
            <a:pPr algn="just">
              <a:lnSpc>
                <a:spcPts val="3920"/>
              </a:lnSpc>
            </a:pPr>
          </a:p>
        </p:txBody>
      </p:sp>
      <p:sp>
        <p:nvSpPr>
          <p:cNvPr name="TextBox 12" id="12"/>
          <p:cNvSpPr txBox="true"/>
          <p:nvPr/>
        </p:nvSpPr>
        <p:spPr>
          <a:xfrm rot="0">
            <a:off x="1041749" y="3754760"/>
            <a:ext cx="10492939" cy="2462505"/>
          </a:xfrm>
          <a:prstGeom prst="rect">
            <a:avLst/>
          </a:prstGeom>
        </p:spPr>
        <p:txBody>
          <a:bodyPr anchor="t" rtlCol="false" tIns="0" lIns="0" bIns="0" rIns="0">
            <a:spAutoFit/>
          </a:bodyPr>
          <a:lstStyle/>
          <a:p>
            <a:pPr algn="just">
              <a:lnSpc>
                <a:spcPts val="3919"/>
              </a:lnSpc>
            </a:pPr>
            <a:r>
              <a:rPr lang="en-US" sz="2799" b="true">
                <a:solidFill>
                  <a:srgbClr val="000000"/>
                </a:solidFill>
                <a:latin typeface="Inter Bold"/>
                <a:ea typeface="Inter Bold"/>
                <a:cs typeface="Inter Bold"/>
                <a:sym typeface="Inter Bold"/>
              </a:rPr>
              <a:t>Phát triể</a:t>
            </a:r>
            <a:r>
              <a:rPr lang="en-US" sz="2799" b="true">
                <a:solidFill>
                  <a:srgbClr val="000000"/>
                </a:solidFill>
                <a:latin typeface="Inter Bold"/>
                <a:ea typeface="Inter Bold"/>
                <a:cs typeface="Inter Bold"/>
                <a:sym typeface="Inter Bold"/>
              </a:rPr>
              <a:t>n chứ</a:t>
            </a:r>
            <a:r>
              <a:rPr lang="en-US" sz="2799" b="true">
                <a:solidFill>
                  <a:srgbClr val="000000"/>
                </a:solidFill>
                <a:latin typeface="Inter Bold"/>
                <a:ea typeface="Inter Bold"/>
                <a:cs typeface="Inter Bold"/>
                <a:sym typeface="Inter Bold"/>
              </a:rPr>
              <a:t>c </a:t>
            </a:r>
            <a:r>
              <a:rPr lang="en-US" sz="2799" b="true">
                <a:solidFill>
                  <a:srgbClr val="000000"/>
                </a:solidFill>
                <a:latin typeface="Inter Bold"/>
                <a:ea typeface="Inter Bold"/>
                <a:cs typeface="Inter Bold"/>
                <a:sym typeface="Inter Bold"/>
              </a:rPr>
              <a:t>nă</a:t>
            </a:r>
            <a:r>
              <a:rPr lang="en-US" sz="2799" b="true">
                <a:solidFill>
                  <a:srgbClr val="000000"/>
                </a:solidFill>
                <a:latin typeface="Inter Bold"/>
                <a:ea typeface="Inter Bold"/>
                <a:cs typeface="Inter Bold"/>
                <a:sym typeface="Inter Bold"/>
              </a:rPr>
              <a:t>ng</a:t>
            </a:r>
            <a:r>
              <a:rPr lang="en-US" sz="2799" b="true">
                <a:solidFill>
                  <a:srgbClr val="000000"/>
                </a:solidFill>
                <a:latin typeface="Inter Bold"/>
                <a:ea typeface="Inter Bold"/>
                <a:cs typeface="Inter Bold"/>
                <a:sym typeface="Inter Bold"/>
              </a:rPr>
              <a:t> quản lý bài viết</a:t>
            </a:r>
            <a:r>
              <a:rPr lang="en-US" sz="2799">
                <a:solidFill>
                  <a:srgbClr val="000000"/>
                </a:solidFill>
                <a:latin typeface="Inter"/>
                <a:ea typeface="Inter"/>
                <a:cs typeface="Inter"/>
                <a:sym typeface="Inter"/>
              </a:rPr>
              <a:t>: Cho phép quản trị viên tạo, chỉnh sửa và xuất bản bài viết</a:t>
            </a:r>
          </a:p>
          <a:p>
            <a:pPr algn="just">
              <a:lnSpc>
                <a:spcPts val="3919"/>
              </a:lnSpc>
            </a:pPr>
          </a:p>
          <a:p>
            <a:pPr algn="just">
              <a:lnSpc>
                <a:spcPts val="3919"/>
              </a:lnSpc>
            </a:pPr>
          </a:p>
          <a:p>
            <a:pPr algn="just">
              <a:lnSpc>
                <a:spcPts val="3920"/>
              </a:lnSpc>
            </a:pPr>
          </a:p>
        </p:txBody>
      </p:sp>
      <p:sp>
        <p:nvSpPr>
          <p:cNvPr name="TextBox 13" id="13"/>
          <p:cNvSpPr txBox="true"/>
          <p:nvPr/>
        </p:nvSpPr>
        <p:spPr>
          <a:xfrm rot="0">
            <a:off x="1041749" y="5086350"/>
            <a:ext cx="10492939" cy="2462505"/>
          </a:xfrm>
          <a:prstGeom prst="rect">
            <a:avLst/>
          </a:prstGeom>
        </p:spPr>
        <p:txBody>
          <a:bodyPr anchor="t" rtlCol="false" tIns="0" lIns="0" bIns="0" rIns="0">
            <a:spAutoFit/>
          </a:bodyPr>
          <a:lstStyle/>
          <a:p>
            <a:pPr algn="just">
              <a:lnSpc>
                <a:spcPts val="3919"/>
              </a:lnSpc>
            </a:pPr>
            <a:r>
              <a:rPr lang="en-US" sz="2799" b="true">
                <a:solidFill>
                  <a:srgbClr val="000000"/>
                </a:solidFill>
                <a:latin typeface="Inter Bold"/>
                <a:ea typeface="Inter Bold"/>
                <a:cs typeface="Inter Bold"/>
                <a:sym typeface="Inter Bold"/>
              </a:rPr>
              <a:t>Phân</a:t>
            </a:r>
            <a:r>
              <a:rPr lang="en-US" sz="2799" b="true">
                <a:solidFill>
                  <a:srgbClr val="000000"/>
                </a:solidFill>
                <a:latin typeface="Inter Bold"/>
                <a:ea typeface="Inter Bold"/>
                <a:cs typeface="Inter Bold"/>
                <a:sym typeface="Inter Bold"/>
              </a:rPr>
              <a:t> quyền giảng viên rõ ràng</a:t>
            </a:r>
            <a:r>
              <a:rPr lang="en-US" sz="2799">
                <a:solidFill>
                  <a:srgbClr val="000000"/>
                </a:solidFill>
                <a:latin typeface="Inter"/>
                <a:ea typeface="Inter"/>
                <a:cs typeface="Inter"/>
                <a:sym typeface="Inter"/>
              </a:rPr>
              <a:t>: Cho phép giảng viên đăng nhập và tự quản lý các khóa học của mình</a:t>
            </a:r>
          </a:p>
          <a:p>
            <a:pPr algn="just">
              <a:lnSpc>
                <a:spcPts val="3919"/>
              </a:lnSpc>
            </a:pPr>
          </a:p>
          <a:p>
            <a:pPr algn="just">
              <a:lnSpc>
                <a:spcPts val="3919"/>
              </a:lnSpc>
            </a:pPr>
          </a:p>
          <a:p>
            <a:pPr algn="just">
              <a:lnSpc>
                <a:spcPts val="3920"/>
              </a:lnSpc>
            </a:pPr>
          </a:p>
        </p:txBody>
      </p:sp>
      <p:sp>
        <p:nvSpPr>
          <p:cNvPr name="TextBox 14" id="14"/>
          <p:cNvSpPr txBox="true"/>
          <p:nvPr/>
        </p:nvSpPr>
        <p:spPr>
          <a:xfrm rot="0">
            <a:off x="1041749" y="6422377"/>
            <a:ext cx="10492939" cy="3948405"/>
          </a:xfrm>
          <a:prstGeom prst="rect">
            <a:avLst/>
          </a:prstGeom>
        </p:spPr>
        <p:txBody>
          <a:bodyPr anchor="t" rtlCol="false" tIns="0" lIns="0" bIns="0" rIns="0">
            <a:spAutoFit/>
          </a:bodyPr>
          <a:lstStyle/>
          <a:p>
            <a:pPr algn="just">
              <a:lnSpc>
                <a:spcPts val="3919"/>
              </a:lnSpc>
            </a:pPr>
            <a:r>
              <a:rPr lang="en-US" sz="2799" b="true">
                <a:solidFill>
                  <a:srgbClr val="000000"/>
                </a:solidFill>
                <a:latin typeface="Inter Bold"/>
                <a:ea typeface="Inter Bold"/>
                <a:cs typeface="Inter Bold"/>
                <a:sym typeface="Inter Bold"/>
              </a:rPr>
              <a:t>Tích</a:t>
            </a:r>
            <a:r>
              <a:rPr lang="en-US" sz="2799" b="true">
                <a:solidFill>
                  <a:srgbClr val="000000"/>
                </a:solidFill>
                <a:latin typeface="Inter Bold"/>
                <a:ea typeface="Inter Bold"/>
                <a:cs typeface="Inter Bold"/>
                <a:sym typeface="Inter Bold"/>
              </a:rPr>
              <a:t> hợp chatbot hỗ trợ người dùng</a:t>
            </a:r>
            <a:r>
              <a:rPr lang="en-US" sz="2799">
                <a:solidFill>
                  <a:srgbClr val="000000"/>
                </a:solidFill>
                <a:latin typeface="Inter"/>
                <a:ea typeface="Inter"/>
                <a:cs typeface="Inter"/>
                <a:sym typeface="Inter"/>
              </a:rPr>
              <a:t>: Giải đáp thắc mắc nhanh chóng, Nâng cao trải nghiệm và mức độ tương tác của người học</a:t>
            </a:r>
          </a:p>
          <a:p>
            <a:pPr algn="just">
              <a:lnSpc>
                <a:spcPts val="3919"/>
              </a:lnSpc>
            </a:pPr>
          </a:p>
          <a:p>
            <a:pPr algn="just">
              <a:lnSpc>
                <a:spcPts val="3919"/>
              </a:lnSpc>
            </a:pPr>
          </a:p>
          <a:p>
            <a:pPr algn="just">
              <a:lnSpc>
                <a:spcPts val="3919"/>
              </a:lnSpc>
            </a:pPr>
          </a:p>
          <a:p>
            <a:pPr algn="just">
              <a:lnSpc>
                <a:spcPts val="3919"/>
              </a:lnSpc>
            </a:pPr>
          </a:p>
          <a:p>
            <a:pPr algn="just">
              <a:lnSpc>
                <a:spcPts val="3920"/>
              </a:lnSpc>
            </a:pP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4" id="4"/>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XÂY DỰNG WEBSITE BÁN KHÓA HỌC LẬP TRÌNH WEB BẰNG LARAVEL</a:t>
            </a:r>
          </a:p>
        </p:txBody>
      </p:sp>
      <p:sp>
        <p:nvSpPr>
          <p:cNvPr name="TextBox 5" id="5"/>
          <p:cNvSpPr txBox="true"/>
          <p:nvPr/>
        </p:nvSpPr>
        <p:spPr>
          <a:xfrm rot="0">
            <a:off x="17020899"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32</a:t>
            </a:r>
          </a:p>
        </p:txBody>
      </p:sp>
      <p:sp>
        <p:nvSpPr>
          <p:cNvPr name="TextBox 6" id="6"/>
          <p:cNvSpPr txBox="true"/>
          <p:nvPr/>
        </p:nvSpPr>
        <p:spPr>
          <a:xfrm rot="0">
            <a:off x="4584897" y="4600213"/>
            <a:ext cx="8869851" cy="778964"/>
          </a:xfrm>
          <a:prstGeom prst="rect">
            <a:avLst/>
          </a:prstGeom>
        </p:spPr>
        <p:txBody>
          <a:bodyPr anchor="t" rtlCol="false" tIns="0" lIns="0" bIns="0" rIns="0">
            <a:spAutoFit/>
          </a:bodyPr>
          <a:lstStyle/>
          <a:p>
            <a:pPr algn="ctr">
              <a:lnSpc>
                <a:spcPts val="6000"/>
              </a:lnSpc>
            </a:pPr>
            <a:r>
              <a:rPr lang="en-US" b="true" sz="4999" spc="138">
                <a:solidFill>
                  <a:srgbClr val="225686">
                    <a:alpha val="81961"/>
                  </a:srgbClr>
                </a:solidFill>
                <a:latin typeface="Open Sans Bold"/>
                <a:ea typeface="Open Sans Bold"/>
                <a:cs typeface="Open Sans Bold"/>
                <a:sym typeface="Open Sans Bold"/>
              </a:rPr>
              <a:t>6. DEMO</a:t>
            </a:r>
          </a:p>
        </p:txBody>
      </p:sp>
      <p:grpSp>
        <p:nvGrpSpPr>
          <p:cNvPr name="Group 7" id="7"/>
          <p:cNvGrpSpPr/>
          <p:nvPr/>
        </p:nvGrpSpPr>
        <p:grpSpPr>
          <a:xfrm rot="0">
            <a:off x="1019185" y="1014412"/>
            <a:ext cx="14681892" cy="23812"/>
            <a:chOff x="0" y="0"/>
            <a:chExt cx="19575856" cy="31750"/>
          </a:xfrm>
        </p:grpSpPr>
        <p:sp>
          <p:nvSpPr>
            <p:cNvPr name="Freeform 8" id="8"/>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Freeform 9" id="9" descr="tvu"/>
          <p:cNvSpPr/>
          <p:nvPr/>
        </p:nvSpPr>
        <p:spPr>
          <a:xfrm flipH="false" flipV="false" rot="0">
            <a:off x="16695420" y="706269"/>
            <a:ext cx="804053" cy="793785"/>
          </a:xfrm>
          <a:custGeom>
            <a:avLst/>
            <a:gdLst/>
            <a:ahLst/>
            <a:cxnLst/>
            <a:rect r="r" b="b" t="t" l="l"/>
            <a:pathLst>
              <a:path h="793785" w="804053">
                <a:moveTo>
                  <a:pt x="0" y="0"/>
                </a:moveTo>
                <a:lnTo>
                  <a:pt x="804053" y="0"/>
                </a:lnTo>
                <a:lnTo>
                  <a:pt x="804053" y="793785"/>
                </a:lnTo>
                <a:lnTo>
                  <a:pt x="0" y="793785"/>
                </a:lnTo>
                <a:lnTo>
                  <a:pt x="0" y="0"/>
                </a:lnTo>
                <a:close/>
              </a:path>
            </a:pathLst>
          </a:custGeom>
          <a:blipFill>
            <a:blip r:embed="rId2"/>
            <a:stretch>
              <a:fillRect l="-34915" t="-35319" r="-34256" b="-36041"/>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276399"/>
            </a:solidFill>
            <a:ln w="12700">
              <a:solidFill>
                <a:srgbClr val="000000"/>
              </a:solidFill>
            </a:ln>
          </p:spPr>
        </p:sp>
      </p:grpSp>
      <p:sp>
        <p:nvSpPr>
          <p:cNvPr name="TextBox 4" id="4"/>
          <p:cNvSpPr txBox="true"/>
          <p:nvPr/>
        </p:nvSpPr>
        <p:spPr>
          <a:xfrm rot="0">
            <a:off x="763324" y="9350588"/>
            <a:ext cx="12012811" cy="409575"/>
          </a:xfrm>
          <a:prstGeom prst="rect">
            <a:avLst/>
          </a:prstGeom>
        </p:spPr>
        <p:txBody>
          <a:bodyPr anchor="t" rtlCol="false" tIns="0" lIns="0" bIns="0" rIns="0">
            <a:spAutoFit/>
          </a:bodyPr>
          <a:lstStyle/>
          <a:p>
            <a:pPr algn="l">
              <a:lnSpc>
                <a:spcPts val="3120"/>
              </a:lnSpc>
            </a:pPr>
            <a:r>
              <a:rPr lang="en-US" b="true" sz="2600" spc="72">
                <a:solidFill>
                  <a:srgbClr val="225686"/>
                </a:solidFill>
                <a:latin typeface="Arimo Bold"/>
                <a:ea typeface="Arimo Bold"/>
                <a:cs typeface="Arimo Bold"/>
                <a:sym typeface="Arimo Bold"/>
              </a:rPr>
              <a:t>XÂY DỰNG WEBSITE BÁN KHÓA HỌC LẬP TRÌNH WEB BẰNG LARAVEL</a:t>
            </a:r>
          </a:p>
        </p:txBody>
      </p:sp>
      <p:sp>
        <p:nvSpPr>
          <p:cNvPr name="TextBox 5" id="5"/>
          <p:cNvSpPr txBox="true"/>
          <p:nvPr/>
        </p:nvSpPr>
        <p:spPr>
          <a:xfrm rot="0">
            <a:off x="17060094" y="9350588"/>
            <a:ext cx="385614" cy="409575"/>
          </a:xfrm>
          <a:prstGeom prst="rect">
            <a:avLst/>
          </a:prstGeom>
        </p:spPr>
        <p:txBody>
          <a:bodyPr anchor="t" rtlCol="false" tIns="0" lIns="0" bIns="0" rIns="0">
            <a:spAutoFit/>
          </a:bodyPr>
          <a:lstStyle/>
          <a:p>
            <a:pPr algn="l">
              <a:lnSpc>
                <a:spcPts val="3120"/>
              </a:lnSpc>
            </a:pPr>
            <a:r>
              <a:rPr lang="en-US" b="true" sz="2600" spc="72">
                <a:solidFill>
                  <a:srgbClr val="276399"/>
                </a:solidFill>
                <a:latin typeface="Arimo Bold"/>
                <a:ea typeface="Arimo Bold"/>
                <a:cs typeface="Arimo Bold"/>
                <a:sym typeface="Arimo Bold"/>
              </a:rPr>
              <a:t>33</a:t>
            </a:r>
          </a:p>
        </p:txBody>
      </p:sp>
      <p:grpSp>
        <p:nvGrpSpPr>
          <p:cNvPr name="Group 6" id="6"/>
          <p:cNvGrpSpPr/>
          <p:nvPr/>
        </p:nvGrpSpPr>
        <p:grpSpPr>
          <a:xfrm rot="0">
            <a:off x="1019185" y="1014412"/>
            <a:ext cx="14681892" cy="23812"/>
            <a:chOff x="0" y="0"/>
            <a:chExt cx="19575856" cy="31750"/>
          </a:xfrm>
        </p:grpSpPr>
        <p:sp>
          <p:nvSpPr>
            <p:cNvPr name="Freeform 7" id="7"/>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225686"/>
            </a:solidFill>
            <a:ln w="12700">
              <a:solidFill>
                <a:srgbClr val="000000"/>
              </a:solidFill>
            </a:ln>
          </p:spPr>
        </p:sp>
      </p:grpSp>
      <p:sp>
        <p:nvSpPr>
          <p:cNvPr name="Freeform 8" id="8" descr="tvu"/>
          <p:cNvSpPr/>
          <p:nvPr/>
        </p:nvSpPr>
        <p:spPr>
          <a:xfrm flipH="false" flipV="false" rot="0">
            <a:off x="16695420" y="706269"/>
            <a:ext cx="804053" cy="793785"/>
          </a:xfrm>
          <a:custGeom>
            <a:avLst/>
            <a:gdLst/>
            <a:ahLst/>
            <a:cxnLst/>
            <a:rect r="r" b="b" t="t" l="l"/>
            <a:pathLst>
              <a:path h="793785" w="804053">
                <a:moveTo>
                  <a:pt x="0" y="0"/>
                </a:moveTo>
                <a:lnTo>
                  <a:pt x="804053" y="0"/>
                </a:lnTo>
                <a:lnTo>
                  <a:pt x="804053" y="793785"/>
                </a:lnTo>
                <a:lnTo>
                  <a:pt x="0" y="793785"/>
                </a:lnTo>
                <a:lnTo>
                  <a:pt x="0" y="0"/>
                </a:lnTo>
                <a:close/>
              </a:path>
            </a:pathLst>
          </a:custGeom>
          <a:blipFill>
            <a:blip r:embed="rId2"/>
            <a:stretch>
              <a:fillRect l="-34915" t="-35319" r="-34256" b="-36041"/>
            </a:stretch>
          </a:blipFill>
        </p:spPr>
      </p:sp>
      <p:grpSp>
        <p:nvGrpSpPr>
          <p:cNvPr name="Group 9" id="9"/>
          <p:cNvGrpSpPr/>
          <p:nvPr/>
        </p:nvGrpSpPr>
        <p:grpSpPr>
          <a:xfrm rot="0">
            <a:off x="2158889" y="2382669"/>
            <a:ext cx="3602174" cy="5661574"/>
            <a:chOff x="0" y="0"/>
            <a:chExt cx="4802899" cy="7548766"/>
          </a:xfrm>
        </p:grpSpPr>
        <p:sp>
          <p:nvSpPr>
            <p:cNvPr name="Freeform 10" id="10"/>
            <p:cNvSpPr/>
            <p:nvPr/>
          </p:nvSpPr>
          <p:spPr>
            <a:xfrm flipH="false" flipV="false" rot="0">
              <a:off x="0" y="0"/>
              <a:ext cx="4802886" cy="7548753"/>
            </a:xfrm>
            <a:custGeom>
              <a:avLst/>
              <a:gdLst/>
              <a:ahLst/>
              <a:cxnLst/>
              <a:rect r="r" b="b" t="t" l="l"/>
              <a:pathLst>
                <a:path h="7548753" w="4802886">
                  <a:moveTo>
                    <a:pt x="0" y="0"/>
                  </a:moveTo>
                  <a:lnTo>
                    <a:pt x="4802886" y="0"/>
                  </a:lnTo>
                  <a:lnTo>
                    <a:pt x="4802886" y="7548753"/>
                  </a:lnTo>
                  <a:lnTo>
                    <a:pt x="0" y="7548753"/>
                  </a:lnTo>
                  <a:lnTo>
                    <a:pt x="0" y="0"/>
                  </a:lnTo>
                  <a:close/>
                </a:path>
              </a:pathLst>
            </a:custGeom>
            <a:blipFill>
              <a:blip r:embed="rId3"/>
              <a:stretch>
                <a:fillRect l="-31" t="0" r="-31" b="0"/>
              </a:stretch>
            </a:blipFill>
          </p:spPr>
        </p:sp>
      </p:grpSp>
      <p:sp>
        <p:nvSpPr>
          <p:cNvPr name="TextBox 11" id="11"/>
          <p:cNvSpPr txBox="true"/>
          <p:nvPr/>
        </p:nvSpPr>
        <p:spPr>
          <a:xfrm rot="0">
            <a:off x="6296254" y="4265933"/>
            <a:ext cx="9673123" cy="1801959"/>
          </a:xfrm>
          <a:prstGeom prst="rect">
            <a:avLst/>
          </a:prstGeom>
        </p:spPr>
        <p:txBody>
          <a:bodyPr anchor="t" rtlCol="false" tIns="0" lIns="0" bIns="0" rIns="0">
            <a:spAutoFit/>
          </a:bodyPr>
          <a:lstStyle/>
          <a:p>
            <a:pPr algn="ctr">
              <a:lnSpc>
                <a:spcPts val="7102"/>
              </a:lnSpc>
            </a:pPr>
            <a:r>
              <a:rPr lang="en-US" sz="6122" b="true">
                <a:solidFill>
                  <a:srgbClr val="276399"/>
                </a:solidFill>
                <a:latin typeface="Open Sans Bold"/>
                <a:ea typeface="Open Sans Bold"/>
                <a:cs typeface="Open Sans Bold"/>
                <a:sym typeface="Open Sans Bold"/>
              </a:rPr>
              <a:t>CẢM ƠN THẦY CÔ VÀ CÁC BẠN ĐÃ THEO DÕI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DAG9jSQYiLI</dc:identifier>
  <dcterms:modified xsi:type="dcterms:W3CDTF">2011-08-01T06:04:30Z</dcterms:modified>
  <cp:revision>1</cp:revision>
  <dc:title>slide_ptudwmnm.pptx</dc:title>
</cp:coreProperties>
</file>