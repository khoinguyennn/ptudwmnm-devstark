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3" r:id="rId6"/>
    <p:sldId id="286" r:id="rId7"/>
    <p:sldId id="287" r:id="rId8"/>
    <p:sldId id="288" r:id="rId9"/>
    <p:sldId id="289" r:id="rId10"/>
    <p:sldId id="285" r:id="rId11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686"/>
    <a:srgbClr val="276399"/>
    <a:srgbClr val="28659C"/>
    <a:srgbClr val="698DC7"/>
    <a:srgbClr val="2E75B6"/>
    <a:srgbClr val="6E309C"/>
    <a:srgbClr val="8D51FF"/>
    <a:srgbClr val="5F2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5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4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82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8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5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5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2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2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2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4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2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B1ED-6A84-4E90-98EC-96F3150E868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9D768-36F2-445A-8C92-26408B78B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141242" y="8035415"/>
            <a:ext cx="6435215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i="1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Sinh viên thực hiện</a:t>
            </a:r>
            <a:r>
              <a:rPr lang="en-US" sz="2499" b="1" i="1" smtClean="0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:</a:t>
            </a:r>
          </a:p>
          <a:p>
            <a:pPr algn="l">
              <a:lnSpc>
                <a:spcPts val="3499"/>
              </a:lnSpc>
            </a:pPr>
            <a:r>
              <a:rPr lang="en-US" sz="2499" smtClean="0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Trầm Khôi Nguyên – 110122126 – DA22TTB</a:t>
            </a:r>
          </a:p>
          <a:p>
            <a:pPr algn="l">
              <a:lnSpc>
                <a:spcPts val="3499"/>
              </a:lnSpc>
            </a:pPr>
            <a:r>
              <a:rPr lang="en-US" sz="2499" smtClean="0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Trần Thị Yến Nhi – 110122133 – DA22TTB</a:t>
            </a:r>
            <a:endParaRPr lang="en-US" sz="2499">
              <a:solidFill>
                <a:srgbClr val="000000"/>
              </a:solidFill>
              <a:latin typeface="Inter Bold Italics"/>
              <a:ea typeface="Inter Bold Italics"/>
              <a:cs typeface="Inter Bold Italics"/>
              <a:sym typeface="Inter Bold Italics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1226820" y="4179161"/>
            <a:ext cx="9090660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399"/>
              </a:lnSpc>
              <a:spcBef>
                <a:spcPct val="0"/>
              </a:spcBef>
            </a:pPr>
            <a:r>
              <a:rPr lang="en-US" sz="4499" b="1" u="none" strike="noStrike" spc="124" smtClean="0">
                <a:solidFill>
                  <a:srgbClr val="276399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  <a:sym typeface="Arimo Bold"/>
              </a:rPr>
              <a:t>XÂY DỰNG WEBSITE BÁN KHÓA HỌC LẬP TRÌNH WEB BẰNG LARAVEL</a:t>
            </a:r>
            <a:endParaRPr lang="en-US" sz="4499" b="1" u="none" strike="noStrike" spc="124">
              <a:solidFill>
                <a:srgbClr val="276399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  <a:sym typeface="Arimo Bold"/>
            </a:endParaRPr>
          </a:p>
        </p:txBody>
      </p:sp>
      <p:sp>
        <p:nvSpPr>
          <p:cNvPr id="15" name="TextBox 5"/>
          <p:cNvSpPr txBox="1"/>
          <p:nvPr/>
        </p:nvSpPr>
        <p:spPr>
          <a:xfrm>
            <a:off x="13711929" y="8397520"/>
            <a:ext cx="449277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i="1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Giảng viên hướng dẫn: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ThS. Phạm Thị Trúc Mai</a:t>
            </a:r>
            <a:endParaRPr lang="en-US" sz="24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60" y="801518"/>
            <a:ext cx="6314497" cy="1071413"/>
          </a:xfrm>
          <a:prstGeom prst="rect">
            <a:avLst/>
          </a:prstGeom>
        </p:spPr>
      </p:pic>
      <p:sp>
        <p:nvSpPr>
          <p:cNvPr id="19" name="AutoShape 13"/>
          <p:cNvSpPr/>
          <p:nvPr/>
        </p:nvSpPr>
        <p:spPr>
          <a:xfrm>
            <a:off x="1226836" y="3884419"/>
            <a:ext cx="5081797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4"/>
          <p:cNvSpPr txBox="1"/>
          <p:nvPr/>
        </p:nvSpPr>
        <p:spPr>
          <a:xfrm>
            <a:off x="12185470" y="1142180"/>
            <a:ext cx="5575088" cy="412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36"/>
              </a:lnSpc>
            </a:pPr>
            <a:r>
              <a:rPr lang="en-US" sz="2600" b="1">
                <a:solidFill>
                  <a:srgbClr val="276399"/>
                </a:solidFill>
                <a:latin typeface="Inter Bold"/>
                <a:ea typeface="Inter Bold"/>
                <a:cs typeface="Inter Bold"/>
                <a:sym typeface="Inter Bold"/>
              </a:rPr>
              <a:t>BÁO </a:t>
            </a:r>
            <a:r>
              <a:rPr lang="en-US" sz="2600" b="1" smtClean="0">
                <a:solidFill>
                  <a:srgbClr val="276399"/>
                </a:solidFill>
                <a:latin typeface="Inter Bold"/>
                <a:ea typeface="Inter Bold"/>
                <a:cs typeface="Inter Bold"/>
                <a:sym typeface="Inter Bold"/>
              </a:rPr>
              <a:t>CÁO ĐỒ ÁN MÔN HỌC</a:t>
            </a:r>
            <a:endParaRPr lang="en-US" sz="2600" b="1">
              <a:solidFill>
                <a:srgbClr val="276399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638" y="2762528"/>
            <a:ext cx="7420189" cy="448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 flipH="1">
            <a:off x="763320" y="716667"/>
            <a:ext cx="0" cy="771525"/>
          </a:xfrm>
          <a:prstGeom prst="line">
            <a:avLst/>
          </a:prstGeom>
          <a:ln w="114300" cap="rnd">
            <a:solidFill>
              <a:srgbClr val="28659C">
                <a:alpha val="47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15"/>
          <p:cNvSpPr txBox="1"/>
          <p:nvPr/>
        </p:nvSpPr>
        <p:spPr>
          <a:xfrm>
            <a:off x="1041745" y="688092"/>
            <a:ext cx="391400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i="1" spc="72">
                <a:solidFill>
                  <a:srgbClr val="276399"/>
                </a:solidFill>
                <a:latin typeface="Arimo Italics"/>
                <a:ea typeface="Arimo Italics"/>
                <a:cs typeface="Arimo Italics"/>
                <a:sym typeface="Arimo Italics"/>
              </a:rPr>
              <a:t>Nội dung báo cáo</a:t>
            </a:r>
          </a:p>
        </p:txBody>
      </p:sp>
      <p:sp>
        <p:nvSpPr>
          <p:cNvPr id="4" name="TextBox 16"/>
          <p:cNvSpPr txBox="1"/>
          <p:nvPr/>
        </p:nvSpPr>
        <p:spPr>
          <a:xfrm>
            <a:off x="1041745" y="1078617"/>
            <a:ext cx="55681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Tóm tắt nội dung</a:t>
            </a:r>
          </a:p>
        </p:txBody>
      </p:sp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259300" y="9369641"/>
            <a:ext cx="24594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grpSp>
        <p:nvGrpSpPr>
          <p:cNvPr id="8" name="Group 4"/>
          <p:cNvGrpSpPr/>
          <p:nvPr/>
        </p:nvGrpSpPr>
        <p:grpSpPr>
          <a:xfrm>
            <a:off x="1603685" y="3049807"/>
            <a:ext cx="6090337" cy="769956"/>
            <a:chOff x="0" y="0"/>
            <a:chExt cx="8120448" cy="1026609"/>
          </a:xfrm>
        </p:grpSpPr>
        <p:grpSp>
          <p:nvGrpSpPr>
            <p:cNvPr id="9" name="Group 5"/>
            <p:cNvGrpSpPr/>
            <p:nvPr/>
          </p:nvGrpSpPr>
          <p:grpSpPr>
            <a:xfrm>
              <a:off x="0" y="0"/>
              <a:ext cx="1026609" cy="1026609"/>
              <a:chOff x="0" y="0"/>
              <a:chExt cx="812800" cy="812800"/>
            </a:xfrm>
          </p:grpSpPr>
          <p:sp>
            <p:nvSpPr>
              <p:cNvPr id="11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75B6">
                  <a:alpha val="70000"/>
                </a:srgbClr>
              </a:solidFill>
            </p:spPr>
          </p:sp>
          <p:sp>
            <p:nvSpPr>
              <p:cNvPr id="12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>
                    <a:solidFill>
                      <a:srgbClr val="FEFFFE">
                        <a:alpha val="69804"/>
                      </a:srgbClr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01</a:t>
                </a:r>
              </a:p>
            </p:txBody>
          </p:sp>
        </p:grpSp>
        <p:sp>
          <p:nvSpPr>
            <p:cNvPr id="10" name="TextBox 8"/>
            <p:cNvSpPr txBox="1"/>
            <p:nvPr/>
          </p:nvSpPr>
          <p:spPr>
            <a:xfrm>
              <a:off x="1334293" y="113253"/>
              <a:ext cx="6786155" cy="7335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r>
                <a:rPr lang="en-US" sz="3799" b="1" spc="105" smtClean="0">
                  <a:solidFill>
                    <a:srgbClr val="225686">
                      <a:alpha val="81961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LÝ DO CHỌN ĐỀ TÀI</a:t>
              </a:r>
              <a:endParaRPr lang="en-US" sz="3799" b="1" spc="105">
                <a:solidFill>
                  <a:srgbClr val="225686">
                    <a:alpha val="81961"/>
                  </a:srgbClr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13" name="Group 9"/>
          <p:cNvGrpSpPr/>
          <p:nvPr/>
        </p:nvGrpSpPr>
        <p:grpSpPr>
          <a:xfrm>
            <a:off x="1603685" y="4551287"/>
            <a:ext cx="5652579" cy="769956"/>
            <a:chOff x="0" y="0"/>
            <a:chExt cx="7536771" cy="1026609"/>
          </a:xfrm>
        </p:grpSpPr>
        <p:grpSp>
          <p:nvGrpSpPr>
            <p:cNvPr id="14" name="Group 10"/>
            <p:cNvGrpSpPr/>
            <p:nvPr/>
          </p:nvGrpSpPr>
          <p:grpSpPr>
            <a:xfrm>
              <a:off x="0" y="0"/>
              <a:ext cx="1026609" cy="1026609"/>
              <a:chOff x="0" y="0"/>
              <a:chExt cx="812800" cy="812800"/>
            </a:xfrm>
          </p:grpSpPr>
          <p:sp>
            <p:nvSpPr>
              <p:cNvPr id="16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75B6">
                  <a:alpha val="70000"/>
                </a:srgbClr>
              </a:solidFill>
            </p:spPr>
          </p:sp>
          <p:sp>
            <p:nvSpPr>
              <p:cNvPr id="17" name="TextBox 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>
                    <a:solidFill>
                      <a:srgbClr val="FEFFFE">
                        <a:alpha val="69804"/>
                      </a:srgbClr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02</a:t>
                </a:r>
              </a:p>
            </p:txBody>
          </p:sp>
        </p:grpSp>
        <p:sp>
          <p:nvSpPr>
            <p:cNvPr id="15" name="TextBox 13"/>
            <p:cNvSpPr txBox="1"/>
            <p:nvPr/>
          </p:nvSpPr>
          <p:spPr>
            <a:xfrm>
              <a:off x="1334294" y="113253"/>
              <a:ext cx="6202477" cy="73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r>
                <a:rPr lang="en-US" sz="3799" b="1" spc="105">
                  <a:solidFill>
                    <a:srgbClr val="225686">
                      <a:alpha val="81961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CƠ SỞ LÝ THUYẾT</a:t>
              </a:r>
            </a:p>
          </p:txBody>
        </p:sp>
      </p:grpSp>
      <p:grpSp>
        <p:nvGrpSpPr>
          <p:cNvPr id="18" name="Group 19"/>
          <p:cNvGrpSpPr/>
          <p:nvPr/>
        </p:nvGrpSpPr>
        <p:grpSpPr>
          <a:xfrm>
            <a:off x="1603685" y="6121860"/>
            <a:ext cx="6232756" cy="1179810"/>
            <a:chOff x="0" y="-19049"/>
            <a:chExt cx="8310342" cy="1573079"/>
          </a:xfrm>
        </p:grpSpPr>
        <p:grpSp>
          <p:nvGrpSpPr>
            <p:cNvPr id="19" name="Group 20"/>
            <p:cNvGrpSpPr/>
            <p:nvPr/>
          </p:nvGrpSpPr>
          <p:grpSpPr>
            <a:xfrm>
              <a:off x="0" y="248696"/>
              <a:ext cx="1026609" cy="1026609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75B6">
                  <a:alpha val="70000"/>
                </a:srgbClr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>
                    <a:solidFill>
                      <a:srgbClr val="FEFFFE">
                        <a:alpha val="69804"/>
                      </a:srgbClr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03</a:t>
                </a:r>
              </a:p>
            </p:txBody>
          </p:sp>
        </p:grpSp>
        <p:sp>
          <p:nvSpPr>
            <p:cNvPr id="20" name="TextBox 23"/>
            <p:cNvSpPr txBox="1"/>
            <p:nvPr/>
          </p:nvSpPr>
          <p:spPr>
            <a:xfrm>
              <a:off x="1455755" y="-19049"/>
              <a:ext cx="6854587" cy="1573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9"/>
                </a:lnSpc>
              </a:pPr>
              <a:r>
                <a:rPr lang="en-US" sz="3799" b="1" spc="102" smtClean="0">
                  <a:solidFill>
                    <a:srgbClr val="225686">
                      <a:alpha val="81961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PHÂN TÍCH VÀ THIẾT KẾ HỆ THỐNG</a:t>
              </a:r>
              <a:endParaRPr lang="en-US" sz="3799" b="1" spc="105">
                <a:solidFill>
                  <a:srgbClr val="225686">
                    <a:alpha val="81961"/>
                  </a:srgbClr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23" name="Group 24"/>
          <p:cNvGrpSpPr/>
          <p:nvPr/>
        </p:nvGrpSpPr>
        <p:grpSpPr>
          <a:xfrm>
            <a:off x="8993522" y="3023681"/>
            <a:ext cx="7679053" cy="769957"/>
            <a:chOff x="0" y="248696"/>
            <a:chExt cx="10238737" cy="1026609"/>
          </a:xfrm>
        </p:grpSpPr>
        <p:grpSp>
          <p:nvGrpSpPr>
            <p:cNvPr id="24" name="Group 25"/>
            <p:cNvGrpSpPr/>
            <p:nvPr/>
          </p:nvGrpSpPr>
          <p:grpSpPr>
            <a:xfrm>
              <a:off x="0" y="248696"/>
              <a:ext cx="1026609" cy="1026609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75B6">
                  <a:alpha val="70000"/>
                </a:srgbClr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>
                    <a:solidFill>
                      <a:srgbClr val="FEFFFE">
                        <a:alpha val="69804"/>
                      </a:srgbClr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04</a:t>
                </a:r>
              </a:p>
            </p:txBody>
          </p:sp>
        </p:grpSp>
        <p:sp>
          <p:nvSpPr>
            <p:cNvPr id="25" name="TextBox 28"/>
            <p:cNvSpPr txBox="1"/>
            <p:nvPr/>
          </p:nvSpPr>
          <p:spPr>
            <a:xfrm>
              <a:off x="1346995" y="392387"/>
              <a:ext cx="8891742" cy="73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9"/>
                </a:lnSpc>
              </a:pPr>
              <a:r>
                <a:rPr lang="en-US" sz="3799" b="1" spc="105" smtClean="0">
                  <a:solidFill>
                    <a:srgbClr val="225686">
                      <a:alpha val="81961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XÂY DỰNG WEBSITE</a:t>
              </a:r>
              <a:endParaRPr lang="en-US" sz="3799" b="1" spc="105">
                <a:solidFill>
                  <a:srgbClr val="225686">
                    <a:alpha val="81961"/>
                  </a:srgbClr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28" name="Group 29"/>
          <p:cNvGrpSpPr/>
          <p:nvPr/>
        </p:nvGrpSpPr>
        <p:grpSpPr>
          <a:xfrm>
            <a:off x="9003047" y="4337412"/>
            <a:ext cx="7087866" cy="1179810"/>
            <a:chOff x="0" y="-19049"/>
            <a:chExt cx="9450489" cy="1573080"/>
          </a:xfrm>
        </p:grpSpPr>
        <p:grpSp>
          <p:nvGrpSpPr>
            <p:cNvPr id="29" name="Group 30"/>
            <p:cNvGrpSpPr/>
            <p:nvPr/>
          </p:nvGrpSpPr>
          <p:grpSpPr>
            <a:xfrm>
              <a:off x="0" y="248696"/>
              <a:ext cx="1026609" cy="1026609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75B6">
                  <a:alpha val="70000"/>
                </a:srgbClr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>
                    <a:solidFill>
                      <a:srgbClr val="FEFFFE">
                        <a:alpha val="69804"/>
                      </a:srgbClr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05</a:t>
                </a:r>
              </a:p>
            </p:txBody>
          </p:sp>
        </p:grpSp>
        <p:sp>
          <p:nvSpPr>
            <p:cNvPr id="30" name="TextBox 33"/>
            <p:cNvSpPr txBox="1"/>
            <p:nvPr/>
          </p:nvSpPr>
          <p:spPr>
            <a:xfrm>
              <a:off x="1334295" y="-19049"/>
              <a:ext cx="8116194" cy="1573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9"/>
                </a:lnSpc>
              </a:pPr>
              <a:r>
                <a:rPr lang="en-US" sz="3799" b="1" spc="102">
                  <a:solidFill>
                    <a:srgbClr val="225686">
                      <a:alpha val="81961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KẾT LUẬN </a:t>
              </a:r>
            </a:p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r>
                <a:rPr lang="en-US" sz="3799" b="1" spc="105">
                  <a:solidFill>
                    <a:srgbClr val="225686">
                      <a:alpha val="81961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VÀ HƯỚNG PHÁT TRIỂN</a:t>
              </a:r>
            </a:p>
          </p:txBody>
        </p:sp>
      </p:grpSp>
      <p:grpSp>
        <p:nvGrpSpPr>
          <p:cNvPr id="33" name="Group 34"/>
          <p:cNvGrpSpPr/>
          <p:nvPr/>
        </p:nvGrpSpPr>
        <p:grpSpPr>
          <a:xfrm>
            <a:off x="8993522" y="6257348"/>
            <a:ext cx="6818948" cy="769956"/>
            <a:chOff x="0" y="0"/>
            <a:chExt cx="9091931" cy="1026609"/>
          </a:xfrm>
        </p:grpSpPr>
        <p:grpSp>
          <p:nvGrpSpPr>
            <p:cNvPr id="34" name="Group 35"/>
            <p:cNvGrpSpPr/>
            <p:nvPr/>
          </p:nvGrpSpPr>
          <p:grpSpPr>
            <a:xfrm>
              <a:off x="0" y="0"/>
              <a:ext cx="1026609" cy="1026609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75B6">
                  <a:alpha val="70000"/>
                </a:srgbClr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>
                    <a:solidFill>
                      <a:srgbClr val="FEFFFE">
                        <a:alpha val="69804"/>
                      </a:srgbClr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06</a:t>
                </a:r>
              </a:p>
            </p:txBody>
          </p:sp>
        </p:grpSp>
        <p:sp>
          <p:nvSpPr>
            <p:cNvPr id="35" name="TextBox 38"/>
            <p:cNvSpPr txBox="1"/>
            <p:nvPr/>
          </p:nvSpPr>
          <p:spPr>
            <a:xfrm>
              <a:off x="1334295" y="113253"/>
              <a:ext cx="7757636" cy="733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r>
                <a:rPr lang="en-US" sz="3799" b="1" spc="105">
                  <a:solidFill>
                    <a:srgbClr val="225686">
                      <a:alpha val="81961"/>
                    </a:srgbClr>
                  </a:solidFill>
                  <a:latin typeface="Arimo Bold"/>
                  <a:ea typeface="Arimo Bold"/>
                  <a:cs typeface="Arimo Bold"/>
                  <a:sym typeface="Arimo Bold"/>
                </a:rPr>
                <a:t>DEMO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153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259300" y="9369641"/>
            <a:ext cx="24594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  <a:endParaRPr lang="en-US" sz="2600" b="1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8" name="TextBox 2"/>
          <p:cNvSpPr txBox="1"/>
          <p:nvPr/>
        </p:nvSpPr>
        <p:spPr>
          <a:xfrm>
            <a:off x="4937590" y="4758779"/>
            <a:ext cx="7615815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138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</a:t>
            </a:r>
            <a:r>
              <a:rPr lang="en-US" sz="5000" b="1" spc="138" smtClean="0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LÝ DO CHỌN ĐỀ TÀI</a:t>
            </a:r>
            <a:endParaRPr lang="en-US" sz="5000" b="1" spc="138">
              <a:solidFill>
                <a:srgbClr val="225686">
                  <a:alpha val="81961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1028706" y="1023938"/>
            <a:ext cx="14662846" cy="4762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3" name="Picture 42" descr="tvu"/>
          <p:cNvPicPr>
            <a:picLocks noChangeAspect="1"/>
          </p:cNvPicPr>
          <p:nvPr/>
        </p:nvPicPr>
        <p:blipFill>
          <a:blip r:embed="rId2"/>
          <a:srcRect l="20639" t="20611" r="20250" b="20046"/>
          <a:stretch>
            <a:fillRect/>
          </a:stretch>
        </p:blipFill>
        <p:spPr>
          <a:xfrm>
            <a:off x="16695420" y="706268"/>
            <a:ext cx="804049" cy="7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9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 flipH="1">
            <a:off x="763320" y="716667"/>
            <a:ext cx="0" cy="771525"/>
          </a:xfrm>
          <a:prstGeom prst="line">
            <a:avLst/>
          </a:prstGeom>
          <a:ln w="114300" cap="rnd">
            <a:solidFill>
              <a:srgbClr val="28659C">
                <a:alpha val="47000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15"/>
          <p:cNvSpPr txBox="1"/>
          <p:nvPr/>
        </p:nvSpPr>
        <p:spPr>
          <a:xfrm>
            <a:off x="1041745" y="688092"/>
            <a:ext cx="391400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i="1" spc="72" smtClean="0">
                <a:solidFill>
                  <a:srgbClr val="225686"/>
                </a:solidFill>
                <a:latin typeface="Arimo Italics"/>
                <a:ea typeface="Arimo Italics"/>
                <a:cs typeface="Arimo Italics"/>
                <a:sym typeface="Arimo Italics"/>
              </a:rPr>
              <a:t>1. Lý do chọn đề tài</a:t>
            </a:r>
            <a:endParaRPr lang="en-US" sz="2600" i="1" spc="72">
              <a:solidFill>
                <a:srgbClr val="225686"/>
              </a:solidFill>
              <a:latin typeface="Arimo Italics"/>
              <a:ea typeface="Arimo Italics"/>
              <a:cs typeface="Arimo Italics"/>
              <a:sym typeface="Arimo Italics"/>
            </a:endParaRPr>
          </a:p>
        </p:txBody>
      </p:sp>
      <p:sp>
        <p:nvSpPr>
          <p:cNvPr id="4" name="TextBox 16"/>
          <p:cNvSpPr txBox="1"/>
          <p:nvPr/>
        </p:nvSpPr>
        <p:spPr>
          <a:xfrm>
            <a:off x="1041745" y="1078617"/>
            <a:ext cx="556818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>
                <a:solidFill>
                  <a:srgbClr val="225686"/>
                </a:solidFill>
                <a:latin typeface="Arimo Bold"/>
                <a:ea typeface="Arimo Bold"/>
                <a:cs typeface="Arimo Bold"/>
                <a:sym typeface="Arimo Bold"/>
              </a:rPr>
              <a:t>Tóm tắt nội dung</a:t>
            </a:r>
          </a:p>
        </p:txBody>
      </p:sp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259300" y="9369641"/>
            <a:ext cx="24594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  <a:endParaRPr lang="en-US" sz="2600" b="1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8" name="TextBox 9"/>
          <p:cNvSpPr txBox="1"/>
          <p:nvPr/>
        </p:nvSpPr>
        <p:spPr>
          <a:xfrm>
            <a:off x="1026996" y="2471146"/>
            <a:ext cx="16230600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i="1" smtClean="0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Abc,xyz,nma…</a:t>
            </a:r>
          </a:p>
        </p:txBody>
      </p:sp>
    </p:spTree>
    <p:extLst>
      <p:ext uri="{BB962C8B-B14F-4D97-AF65-F5344CB8AC3E}">
        <p14:creationId xmlns:p14="http://schemas.microsoft.com/office/powerpoint/2010/main" val="146109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020903" y="9369641"/>
            <a:ext cx="48433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17</a:t>
            </a:r>
            <a:endParaRPr lang="en-US" sz="2600" b="1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8" name="TextBox 2"/>
          <p:cNvSpPr txBox="1"/>
          <p:nvPr/>
        </p:nvSpPr>
        <p:spPr>
          <a:xfrm>
            <a:off x="3265544" y="4758779"/>
            <a:ext cx="11326756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138" smtClean="0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CƠ SỞ LÝ THUYẾT</a:t>
            </a:r>
            <a:endParaRPr lang="en-US" sz="5000" b="1" spc="138">
              <a:solidFill>
                <a:srgbClr val="225686">
                  <a:alpha val="81961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1028706" y="1023938"/>
            <a:ext cx="14662846" cy="4762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3" name="Picture 42" descr="tvu"/>
          <p:cNvPicPr>
            <a:picLocks noChangeAspect="1"/>
          </p:cNvPicPr>
          <p:nvPr/>
        </p:nvPicPr>
        <p:blipFill>
          <a:blip r:embed="rId2"/>
          <a:srcRect l="20639" t="20611" r="20250" b="20046"/>
          <a:stretch>
            <a:fillRect/>
          </a:stretch>
        </p:blipFill>
        <p:spPr>
          <a:xfrm>
            <a:off x="16695420" y="706268"/>
            <a:ext cx="804049" cy="7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92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020903" y="9369641"/>
            <a:ext cx="48433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17</a:t>
            </a:r>
            <a:endParaRPr lang="en-US" sz="2600" b="1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8" name="TextBox 2"/>
          <p:cNvSpPr txBox="1"/>
          <p:nvPr/>
        </p:nvSpPr>
        <p:spPr>
          <a:xfrm>
            <a:off x="4362824" y="4374058"/>
            <a:ext cx="886985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138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r>
              <a:rPr lang="en-US" sz="5000" b="1" spc="138" smtClean="0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PHÂN TÍCH VÀ THIẾT KẾ HỆ THỐNG</a:t>
            </a:r>
            <a:endParaRPr lang="en-US" sz="5000" b="1" spc="138">
              <a:solidFill>
                <a:srgbClr val="225686">
                  <a:alpha val="81961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1028706" y="1023938"/>
            <a:ext cx="14662846" cy="4762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3" name="Picture 42" descr="tvu"/>
          <p:cNvPicPr>
            <a:picLocks noChangeAspect="1"/>
          </p:cNvPicPr>
          <p:nvPr/>
        </p:nvPicPr>
        <p:blipFill>
          <a:blip r:embed="rId2"/>
          <a:srcRect l="20639" t="20611" r="20250" b="20046"/>
          <a:stretch>
            <a:fillRect/>
          </a:stretch>
        </p:blipFill>
        <p:spPr>
          <a:xfrm>
            <a:off x="16695420" y="706268"/>
            <a:ext cx="804049" cy="7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7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020903" y="9369641"/>
            <a:ext cx="48433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17</a:t>
            </a:r>
            <a:endParaRPr lang="en-US" sz="2600" b="1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8" name="TextBox 2"/>
          <p:cNvSpPr txBox="1"/>
          <p:nvPr/>
        </p:nvSpPr>
        <p:spPr>
          <a:xfrm>
            <a:off x="4584893" y="4609735"/>
            <a:ext cx="886985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138" smtClean="0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XÂY DỰNG WEBSITE</a:t>
            </a:r>
            <a:endParaRPr lang="en-US" sz="5000" b="1" spc="138">
              <a:solidFill>
                <a:srgbClr val="225686">
                  <a:alpha val="81961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1028706" y="1023938"/>
            <a:ext cx="14662846" cy="4762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3" name="Picture 42" descr="tvu"/>
          <p:cNvPicPr>
            <a:picLocks noChangeAspect="1"/>
          </p:cNvPicPr>
          <p:nvPr/>
        </p:nvPicPr>
        <p:blipFill>
          <a:blip r:embed="rId2"/>
          <a:srcRect l="20639" t="20611" r="20250" b="20046"/>
          <a:stretch>
            <a:fillRect/>
          </a:stretch>
        </p:blipFill>
        <p:spPr>
          <a:xfrm>
            <a:off x="16695420" y="706268"/>
            <a:ext cx="804049" cy="7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38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020903" y="9369641"/>
            <a:ext cx="48433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17</a:t>
            </a:r>
            <a:endParaRPr lang="en-US" sz="2600" b="1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8" name="TextBox 2"/>
          <p:cNvSpPr txBox="1"/>
          <p:nvPr/>
        </p:nvSpPr>
        <p:spPr>
          <a:xfrm>
            <a:off x="4584893" y="4609735"/>
            <a:ext cx="886985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138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r>
              <a:rPr lang="en-US" sz="5000" b="1" spc="138" smtClean="0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KẾT LUẬN VÀ HƯỚNG PHÁT TRIỂN</a:t>
            </a:r>
            <a:endParaRPr lang="en-US" sz="5000" b="1" spc="138">
              <a:solidFill>
                <a:srgbClr val="225686">
                  <a:alpha val="81961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1028706" y="1023938"/>
            <a:ext cx="14662846" cy="4762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3" name="Picture 42" descr="tvu"/>
          <p:cNvPicPr>
            <a:picLocks noChangeAspect="1"/>
          </p:cNvPicPr>
          <p:nvPr/>
        </p:nvPicPr>
        <p:blipFill>
          <a:blip r:embed="rId2"/>
          <a:srcRect l="20639" t="20611" r="20250" b="20046"/>
          <a:stretch>
            <a:fillRect/>
          </a:stretch>
        </p:blipFill>
        <p:spPr>
          <a:xfrm>
            <a:off x="16695420" y="706268"/>
            <a:ext cx="804049" cy="7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7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020903" y="9369641"/>
            <a:ext cx="48433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17</a:t>
            </a:r>
            <a:endParaRPr lang="en-US" sz="2600" b="1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8" name="TextBox 2"/>
          <p:cNvSpPr txBox="1"/>
          <p:nvPr/>
        </p:nvSpPr>
        <p:spPr>
          <a:xfrm>
            <a:off x="4584893" y="4609735"/>
            <a:ext cx="886985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138" smtClean="0">
                <a:solidFill>
                  <a:srgbClr val="225686">
                    <a:alpha val="8196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 DEMO</a:t>
            </a:r>
            <a:endParaRPr lang="en-US" sz="5000" b="1" spc="138">
              <a:solidFill>
                <a:srgbClr val="225686">
                  <a:alpha val="81961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1028706" y="1023938"/>
            <a:ext cx="14662846" cy="4762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3" name="Picture 42" descr="tvu"/>
          <p:cNvPicPr>
            <a:picLocks noChangeAspect="1"/>
          </p:cNvPicPr>
          <p:nvPr/>
        </p:nvPicPr>
        <p:blipFill>
          <a:blip r:embed="rId2"/>
          <a:srcRect l="20639" t="20611" r="20250" b="20046"/>
          <a:stretch>
            <a:fillRect/>
          </a:stretch>
        </p:blipFill>
        <p:spPr>
          <a:xfrm>
            <a:off x="16695420" y="706268"/>
            <a:ext cx="804049" cy="7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1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706170" y="9258300"/>
            <a:ext cx="16872253" cy="0"/>
          </a:xfrm>
          <a:prstGeom prst="line">
            <a:avLst/>
          </a:prstGeom>
          <a:ln w="19050" cap="rnd">
            <a:solidFill>
              <a:srgbClr val="276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7"/>
          <p:cNvSpPr txBox="1"/>
          <p:nvPr/>
        </p:nvSpPr>
        <p:spPr>
          <a:xfrm>
            <a:off x="763320" y="9369641"/>
            <a:ext cx="121196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u="none" strike="noStrike" spc="72" smtClean="0">
                <a:solidFill>
                  <a:srgbClr val="225686"/>
                </a:solidFill>
                <a:latin typeface="Arimo Bold"/>
                <a:ea typeface="Arimo Bold"/>
                <a:cs typeface="Arimo Bold"/>
                <a:sym typeface="Arimo Bold"/>
              </a:rPr>
              <a:t>XÂY DỰNG WEBSITE TÌM KIẾM VÀ ỨNG TUYỂN VIỆC LÀM</a:t>
            </a:r>
            <a:endParaRPr lang="en-US" sz="2600" b="1" u="none" strike="noStrike" spc="72">
              <a:solidFill>
                <a:srgbClr val="22568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18"/>
          <p:cNvSpPr txBox="1"/>
          <p:nvPr/>
        </p:nvSpPr>
        <p:spPr>
          <a:xfrm>
            <a:off x="17060091" y="9369641"/>
            <a:ext cx="445151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600" b="1" spc="72" smtClean="0">
                <a:solidFill>
                  <a:srgbClr val="276399"/>
                </a:solidFill>
                <a:latin typeface="Arimo Bold"/>
                <a:ea typeface="Arimo Bold"/>
                <a:cs typeface="Arimo Bold"/>
                <a:sym typeface="Arimo Bold"/>
              </a:rPr>
              <a:t>29</a:t>
            </a:r>
            <a:endParaRPr lang="en-US" sz="2600" b="1" spc="72">
              <a:solidFill>
                <a:srgbClr val="27639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1028706" y="1023938"/>
            <a:ext cx="14662846" cy="4762"/>
          </a:xfrm>
          <a:prstGeom prst="line">
            <a:avLst/>
          </a:prstGeom>
          <a:ln w="19050" cap="rnd">
            <a:solidFill>
              <a:srgbClr val="22568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3" name="Picture 42" descr="tvu"/>
          <p:cNvPicPr>
            <a:picLocks noChangeAspect="1"/>
          </p:cNvPicPr>
          <p:nvPr/>
        </p:nvPicPr>
        <p:blipFill>
          <a:blip r:embed="rId2"/>
          <a:srcRect l="20639" t="20611" r="20250" b="20046"/>
          <a:stretch>
            <a:fillRect/>
          </a:stretch>
        </p:blipFill>
        <p:spPr>
          <a:xfrm>
            <a:off x="16695420" y="706268"/>
            <a:ext cx="804049" cy="793784"/>
          </a:xfrm>
          <a:prstGeom prst="rect">
            <a:avLst/>
          </a:prstGeom>
        </p:spPr>
      </p:pic>
      <p:sp>
        <p:nvSpPr>
          <p:cNvPr id="8" name="Freeform 3"/>
          <p:cNvSpPr/>
          <p:nvPr/>
        </p:nvSpPr>
        <p:spPr>
          <a:xfrm>
            <a:off x="2158888" y="2382671"/>
            <a:ext cx="3602176" cy="5661574"/>
          </a:xfrm>
          <a:custGeom>
            <a:avLst/>
            <a:gdLst/>
            <a:ahLst/>
            <a:cxnLst/>
            <a:rect l="l" t="t" r="r" b="b"/>
            <a:pathLst>
              <a:path w="3602176" h="5661574">
                <a:moveTo>
                  <a:pt x="0" y="0"/>
                </a:moveTo>
                <a:lnTo>
                  <a:pt x="3602176" y="0"/>
                </a:lnTo>
                <a:lnTo>
                  <a:pt x="3602176" y="5661574"/>
                </a:lnTo>
                <a:lnTo>
                  <a:pt x="0" y="5661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4"/>
          <p:cNvSpPr txBox="1"/>
          <p:nvPr/>
        </p:nvSpPr>
        <p:spPr>
          <a:xfrm>
            <a:off x="6296255" y="4246886"/>
            <a:ext cx="9673122" cy="182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02"/>
              </a:lnSpc>
            </a:pPr>
            <a:r>
              <a:rPr lang="en-US" sz="6122" b="1">
                <a:solidFill>
                  <a:srgbClr val="27639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CẢM ƠN THẦY CÔ VÀ CÁC BẠN ĐÃ THEO DÕI</a:t>
            </a:r>
          </a:p>
        </p:txBody>
      </p:sp>
    </p:spTree>
    <p:extLst>
      <p:ext uri="{BB962C8B-B14F-4D97-AF65-F5344CB8AC3E}">
        <p14:creationId xmlns:p14="http://schemas.microsoft.com/office/powerpoint/2010/main" val="53134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248</Words>
  <Application>Microsoft Office PowerPoint</Application>
  <PresentationFormat>Custom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Arimo Bold</vt:lpstr>
      <vt:lpstr>Arimo Italics</vt:lpstr>
      <vt:lpstr>Calibri</vt:lpstr>
      <vt:lpstr>Calibri Light</vt:lpstr>
      <vt:lpstr>Inter</vt:lpstr>
      <vt:lpstr>Inter Bold</vt:lpstr>
      <vt:lpstr>Inter Bold Italics</vt:lpstr>
      <vt:lpstr>Inter Italics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</dc:creator>
  <cp:lastModifiedBy>Nguyen</cp:lastModifiedBy>
  <cp:revision>24</cp:revision>
  <dcterms:created xsi:type="dcterms:W3CDTF">2025-11-14T08:01:17Z</dcterms:created>
  <dcterms:modified xsi:type="dcterms:W3CDTF">2026-01-05T13:35:22Z</dcterms:modified>
</cp:coreProperties>
</file>